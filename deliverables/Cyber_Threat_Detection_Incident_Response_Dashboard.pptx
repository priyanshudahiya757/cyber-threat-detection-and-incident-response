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89" r:id="rId23"/>
    <p:sldId id="290" r:id="rId24"/>
    <p:sldId id="291" r:id="rId25"/>
    <p:sldId id="292" r:id="rId26"/>
    <p:sldId id="293" r:id="rId27"/>
    <p:sldId id="294" r:id="rId28"/>
    <p:sldId id="295" r:id="rId29"/>
    <p:sldId id="296" r:id="rId30"/>
    <p:sldId id="297" r:id="rId31"/>
    <p:sldId id="298" r:id="rId32"/>
    <p:sldId id="299" r:id="rId33"/>
    <p:sldId id="300" r:id="rId34"/>
    <p:sldId id="301" r:id="rId35"/>
    <p:sldId id="302" r:id="rId36"/>
    <p:sldId id="303" r:id="rId37"/>
    <p:sldId id="304" r:id="rId38"/>
    <p:sldId id="305" r:id="rId39"/>
    <p:sldId id="306" r:id="rId40"/>
    <p:sldId id="307" r:id="rId41"/>
    <p:sldId id="308" r:id="rId4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9E333670-B0C3-482E-AD7D-2DB113722FA5}">
          <p14:sldIdLst>
            <p14:sldId id="256"/>
            <p14:sldId id="259"/>
            <p14:sldId id="288"/>
            <p14:sldId id="272"/>
            <p14:sldId id="275"/>
            <p14:sldId id="274"/>
            <p14:sldId id="264"/>
            <p14:sldId id="286"/>
            <p14:sldId id="273"/>
            <p14:sldId id="287"/>
            <p14:sldId id="279"/>
            <p14:sldId id="282"/>
            <p14:sldId id="277"/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arshita sharma" initials="hs" lastIdx="1" clrIdx="0">
    <p:extLst>
      <p:ext uri="{19B8F6BF-5375-455C-9EA6-DF929625EA0E}">
        <p15:presenceInfo xmlns:p15="http://schemas.microsoft.com/office/powerpoint/2012/main" userId="796b57deed017f85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6102" autoAdjust="0"/>
    <p:restoredTop sz="95256" autoAdjust="0"/>
  </p:normalViewPr>
  <p:slideViewPr>
    <p:cSldViewPr snapToGrid="0">
      <p:cViewPr varScale="1">
        <p:scale>
          <a:sx n="74" d="100"/>
          <a:sy n="74" d="100"/>
        </p:scale>
        <p:origin x="72" y="25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17" Type="http://schemas.openxmlformats.org/officeDocument/2006/relationships/notesMaster" Target="notesMasters/notesMaster1.xml"/><Relationship Id="rId18" Type="http://schemas.openxmlformats.org/officeDocument/2006/relationships/commentAuthors" Target="commentAuthors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A7199F-014E-4855-A33E-7A77826F2C2F}" type="datetimeFigureOut">
              <a:rPr lang="en-US" smtClean="0"/>
              <a:pPr/>
              <a:t>10/3/2025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F42089-92B5-486D-9EDB-A943EC10E5B9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yourself, roll number, and project title. This is a B.Tech final-year SIEM-style dashboard for cyber threat detection and incident response. Thank the guide.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core problem: fragmented logs and slow manual analysis.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dual engines: rules for known threats, ML for unknowns.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objectives as measurable outcomes.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Acknowledge commercial tools; position ours as lightweight academic SIEM.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Justify building a focused academic alternative with explainability.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Summarize the proposed product and Docker Compose deployment.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left-to-right. Mongo for entities, Elasticsearch for logs.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stack crisp; justify ES for logs and Mongo for SOC records.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Narrate the demo path mentors will see live in the UI.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Stress schema unification so rules/ML stay source-agnostic.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 examples: SSH brute force and SQL injection with MITRE mapping.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ML complements rules and finds unusual patterns rules may miss.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Demonstrate assign/resolve on a live incident if time permits.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the populated dashboard after demo seed.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Useful for faculty asking about modularity and SOLID design.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polyglot persistence: SOC entities vs searchable log store.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Core system is integrated and demonstrable.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Frame as natural extensions, not missing MVP blockers.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Restate contribution: end-to-end cyber defense workflow in one dashboard.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Invite questions. Offer to open live dashboard or API docs if asked.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AFD93-F6E6-4C8A-84EC-1431F04DB8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59DB71-2E47-9264-E958-572387933C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7B1B91-5436-B312-6E4B-FA6B30069E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/>
              <a:t>03-12-2024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9B779A-E5DC-95C2-DB77-61CAEFB995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32548A-7BB4-18F8-780C-5D1DF4463B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5AAEC-B383-46AE-B680-503D41FE6A9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60019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80E16E-83BE-2425-4366-492AA0A680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983B71-186B-C993-6111-3E85E7A872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E2901B-9897-3CCB-DA6B-634DEC6D92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/>
              <a:t>03-12-2024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315B0B-CC55-A1D0-7B2B-3641CE03D6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2A0BA2-96C9-AF49-4D44-546CC881B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5AAEC-B383-46AE-B680-503D41FE6A9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47993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F5634D-8021-BEE3-C461-50E4727164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234A60-D5CB-3EC9-39D9-4881666EC9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35C1E8-6037-84E8-EEE7-90BBCCD98B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/>
              <a:t>03-12-2024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B95ED8-AFCA-9F57-5CA8-4A27317C52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E9BD69-E064-469D-A1EE-8061DDC239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5AAEC-B383-46AE-B680-503D41FE6A9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98315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72A294-14D1-D8D8-17F5-3F0C9FA4B1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9F3A1D-0A33-CF47-FF82-D2CB1D763F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4C6F7A-E7B4-E9BB-B72F-DC7247D743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26340B-8E73-6904-A270-A5A8C3FA84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/>
              <a:t>03-12-2024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786EE7-D170-5B2A-E98A-599139598F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EE5CDA-0D72-E94E-E3AC-EC316A9429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5AAEC-B383-46AE-B680-503D41FE6A9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26377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7E3374-304C-38ED-89C4-205C2B1D2D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EC5B55-275E-2F15-6C69-E0FE91ACC8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6AC18E-4B18-7CDA-B931-71097D12A2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9461081-6079-9B74-AB39-1BE9CF6BFC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D8610A3-56A3-3D0E-5D7C-8375CB4977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3282CDB-CD07-3AF1-3C6A-60C2C9DC33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/>
              <a:t>03-12-2024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9DB2E41-45A6-AC95-397E-5A82967471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FE5C56A-DBC0-83A2-68D4-0ADF3FCD68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5AAEC-B383-46AE-B680-503D41FE6A9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74844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6E645C-84E4-86FB-2EE4-5CF920F638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BF1DC1D-EEAD-1D95-ACC7-88CEB27161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/>
              <a:t>03-12-2024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7FAC96-6337-1C37-5053-AEE65D1332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99D8E3-CB3F-8F63-C011-1A69894AD2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5AAEC-B383-46AE-B680-503D41FE6A9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88451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D1613A7-61DA-8D48-12DB-17380EDEC4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/>
              <a:t>03-12-2024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872F96-7EB9-0DA9-274A-75EEF73AD4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433576-3677-A7F0-A972-A3DEE6C94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5AAEC-B383-46AE-B680-503D41FE6A9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74770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48F9BC-7E33-8926-FFB9-5CFCAC8F2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12FB0A-C715-9E77-FDCC-67FCF540ED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7374E0-DD00-0FDE-8366-03B1D116CB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88D4FF-9505-4045-6072-8ADBB4C349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/>
              <a:t>03-12-2024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BBAE33-41E5-3E08-BEF7-ED2CBA0E93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9A7C7A-181A-E463-B048-AA7DBD54F0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5AAEC-B383-46AE-B680-503D41FE6A9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38750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ECECE4-EBEF-4697-B86D-28EE929948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B295694-8D89-0514-DC0E-BB74B7C0FB8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169DBD-34AF-FD82-1D54-8CB85060BA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33771A-72B6-1148-484B-C7732CA90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/>
              <a:t>03-12-2024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2B38A6-6B4A-4379-8E26-463F5AA74B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504AB7-DA32-AAAF-BB25-45160EFA59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5AAEC-B383-46AE-B680-503D41FE6A9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04589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985ADE-4856-FB64-1FD6-C8BDB0A7B0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89F3A6-BCE7-B9EB-9C08-55EF7B157D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988032-D308-7972-83E2-50DF60029B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/>
              <a:t>03-12-2024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F51991-177E-0541-7664-D75EC183F4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56E495-3F9C-2078-E38D-5DEE1568CC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5AAEC-B383-46AE-B680-503D41FE6A9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48173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E68AACA-93EA-5DE2-E7BF-47FDD3610B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ADE0EEC-8C65-85CE-EA67-2D521FB04D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A8C0D6-ED29-7973-6BB1-0C288FCD74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/>
              <a:t>03-12-2024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F7992A-3F89-9245-9C76-065CF56580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D4C991-A6B7-C45A-D65D-0E6A8B8B15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5AAEC-B383-46AE-B680-503D41FE6A9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828936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A99111E-A875-8E35-F26E-EBB3DCC6F9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665EB4-29F8-5404-82A4-A7D53D2857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C22FEC-724E-B80C-7F41-3C04D3CDD8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03-12-2024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65274A-A7F0-5715-E85B-FD4FB1DC00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90559A-A289-B8D6-D885-5B80B44083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75AAEC-B383-46AE-B680-503D41FE6A9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97842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notesSlide" Target="../notesSlides/notesSlide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B64C11A9-A9A6-F985-26AE-1F0A9EF756CE}"/>
              </a:ext>
            </a:extLst>
          </p:cNvPr>
          <p:cNvSpPr txBox="1"/>
          <p:nvPr/>
        </p:nvSpPr>
        <p:spPr>
          <a:xfrm>
            <a:off x="7356764" y="4878430"/>
            <a:ext cx="4038600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/>
            <a:r>
              <a:rPr sz="1200"/>
              <a:t>SUBMITTED BY: RAHUL SWAMI</a:t>
            </a:r>
          </a:p>
          <a:p>
            <a:pPr/>
            <a:r>
              <a:rPr sz="1200"/>
              <a:t>ROLL NO.: 22EARCS137</a:t>
            </a:r>
          </a:p>
          <a:p>
            <a:pPr/>
            <a:r>
              <a:rPr sz="1200"/>
              <a:t>DEPARTMENT: [Department Name]</a:t>
            </a:r>
          </a:p>
          <a:p>
            <a:pPr/>
            <a:r>
              <a:rPr sz="1200"/>
              <a:t>COLLEGE: [College Name]</a:t>
            </a:r>
          </a:p>
          <a:p>
            <a:pPr/>
            <a:r>
              <a:rPr sz="1200"/>
              <a:t>ACADEMIC YEAR: [Academic Year]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4166D2A-0FE4-5260-80BC-17B1A8341E55}"/>
              </a:ext>
            </a:extLst>
          </p:cNvPr>
          <p:cNvSpPr txBox="1"/>
          <p:nvPr/>
        </p:nvSpPr>
        <p:spPr>
          <a:xfrm>
            <a:off x="1119674" y="1884218"/>
            <a:ext cx="993150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/>
              <a:t>A PROJECT PRESENTATION</a:t>
            </a:r>
          </a:p>
          <a:p>
            <a:pPr/>
            <a:r>
              <a:rPr sz="1600"/>
              <a:t>ON</a:t>
            </a:r>
          </a:p>
          <a:p>
            <a:pPr/>
            <a:r>
              <a:rPr sz="1600"/>
              <a:t>“Cyber Threat Detection and Incident Response Dashboard”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545A59-0D34-8114-274E-4552F4C50CCF}"/>
              </a:ext>
            </a:extLst>
          </p:cNvPr>
          <p:cNvSpPr txBox="1"/>
          <p:nvPr/>
        </p:nvSpPr>
        <p:spPr>
          <a:xfrm>
            <a:off x="439104" y="4878430"/>
            <a:ext cx="334014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/>
            <a:r>
              <a:rPr sz="1200"/>
              <a:t>SUBMITTED TO:</a:t>
            </a:r>
          </a:p>
          <a:p>
            <a:pPr/>
            <a:r>
              <a:rPr sz="1200"/>
              <a:t>NAME: DR. VISHAL SHIRVASTAVA</a:t>
            </a:r>
          </a:p>
          <a:p>
            <a:pPr/>
            <a:r>
              <a:rPr sz="1200"/>
              <a:t>DESIGNATION: PROFESSOR</a:t>
            </a:r>
          </a:p>
        </p:txBody>
      </p:sp>
      <p:pic>
        <p:nvPicPr>
          <p:cNvPr id="8" name="image1.jpe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3236" y="193964"/>
            <a:ext cx="11623964" cy="1593272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5AAEC-B383-46AE-B680-503D41FE6A96}" type="slidenum">
              <a:rPr lang="en-IN" smtClean="0"/>
              <a:pPr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4975274"/>
      </p:ext>
    </p:extLst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" name="TextBox 8">
            <a:extLst>
              <a:ext uri="{FF2B5EF4-FFF2-40B4-BE49-F238E27FC236}">
                <a16:creationId xmlns:a16="http://schemas.microsoft.com/office/drawing/2014/main" id="{73FCF8FB-A1FC-AFCE-D2FB-B88B87B16818}"/>
              </a:ext>
            </a:extLst>
          </p:cNvPr>
          <p:cNvSpPr txBox="1"/>
          <p:nvPr/>
        </p:nvSpPr>
        <p:spPr>
          <a:xfrm>
            <a:off x="4696639" y="456591"/>
            <a:ext cx="328476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 b="1"/>
              <a:t>Problem Statement:</a:t>
            </a:r>
            <a:endParaRPr lang="en-IN" sz="4000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5AAEC-B383-46AE-B680-503D41FE6A96}" type="slidenum">
              <a:rPr lang="en-IN" smtClean="0"/>
              <a:pPr/>
              <a:t>4</a:t>
            </a:fld>
            <a:endParaRPr lang="en-IN"/>
          </a:p>
        </p:txBody>
      </p:sp>
      <p:pic>
        <p:nvPicPr>
          <p:cNvPr id="11" name="image1.jpeg"/>
          <p:cNvPicPr/>
          <p:nvPr/>
        </p:nvPicPr>
        <p:blipFill>
          <a:blip r:embed="rId2" cstate="print"/>
          <a:srcRect l="1991" r="87176"/>
          <a:stretch>
            <a:fillRect/>
          </a:stretch>
        </p:blipFill>
        <p:spPr>
          <a:xfrm>
            <a:off x="404735" y="329783"/>
            <a:ext cx="764500" cy="103772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B0C626F-46AC-8CD2-5586-755E4C82D9E9}"/>
              </a:ext>
            </a:extLst>
          </p:cNvPr>
          <p:cNvSpPr txBox="1"/>
          <p:nvPr/>
        </p:nvSpPr>
        <p:spPr>
          <a:xfrm>
            <a:off x="1481077" y="1789907"/>
            <a:ext cx="9715889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sz="1300"/>
              <a:t>- Organizations generate high volumes of security logs from heterogeneous sources.</a:t>
            </a:r>
          </a:p>
          <a:p>
            <a:pPr/>
            <a:r>
              <a:rPr sz="1300"/>
              <a:t>- Manual log review cannot keep pace with modern attack speed and scale.</a:t>
            </a:r>
          </a:p>
          <a:p>
            <a:pPr/>
            <a:r>
              <a:rPr sz="1300"/>
              <a:t>- Threat signals are scattered across Windows, Linux, firewall, and web logs.</a:t>
            </a:r>
          </a:p>
          <a:p>
            <a:pPr/>
            <a:r>
              <a:rPr sz="1300"/>
              <a:t>- Delayed detection increases dwell time and incident impact.</a:t>
            </a:r>
          </a:p>
          <a:p>
            <a:pPr/>
            <a:r>
              <a:rPr sz="1300"/>
              <a:t>- SOC teams need a unified dashboard for detection, triage, and response.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" name="TextBox 8">
            <a:extLst>
              <a:ext uri="{FF2B5EF4-FFF2-40B4-BE49-F238E27FC236}">
                <a16:creationId xmlns:a16="http://schemas.microsoft.com/office/drawing/2014/main" id="{73FCF8FB-A1FC-AFCE-D2FB-B88B87B16818}"/>
              </a:ext>
            </a:extLst>
          </p:cNvPr>
          <p:cNvSpPr txBox="1"/>
          <p:nvPr/>
        </p:nvSpPr>
        <p:spPr>
          <a:xfrm>
            <a:off x="4696639" y="456591"/>
            <a:ext cx="328476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 b="1"/>
              <a:t>Motivation:</a:t>
            </a:r>
            <a:endParaRPr lang="en-IN" sz="4000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5AAEC-B383-46AE-B680-503D41FE6A96}" type="slidenum">
              <a:rPr lang="en-IN" smtClean="0"/>
              <a:pPr/>
              <a:t>4</a:t>
            </a:fld>
            <a:endParaRPr lang="en-IN"/>
          </a:p>
        </p:txBody>
      </p:sp>
      <p:pic>
        <p:nvPicPr>
          <p:cNvPr id="11" name="image1.jpeg"/>
          <p:cNvPicPr/>
          <p:nvPr/>
        </p:nvPicPr>
        <p:blipFill>
          <a:blip r:embed="rId2" cstate="print"/>
          <a:srcRect l="1991" r="87176"/>
          <a:stretch>
            <a:fillRect/>
          </a:stretch>
        </p:blipFill>
        <p:spPr>
          <a:xfrm>
            <a:off x="404735" y="329783"/>
            <a:ext cx="764500" cy="103772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B0C626F-46AC-8CD2-5586-755E4C82D9E9}"/>
              </a:ext>
            </a:extLst>
          </p:cNvPr>
          <p:cNvSpPr txBox="1"/>
          <p:nvPr/>
        </p:nvSpPr>
        <p:spPr>
          <a:xfrm>
            <a:off x="1481077" y="1789907"/>
            <a:ext cx="9715889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sz="1300"/>
              <a:t>- Rising frequency of brute-force, web attacks, and anomalous behavior.</a:t>
            </a:r>
          </a:p>
          <a:p>
            <a:pPr/>
            <a:r>
              <a:rPr sz="1300"/>
              <a:t>- Need for an affordable, demonstrable SIEM-like academic platform.</a:t>
            </a:r>
          </a:p>
          <a:p>
            <a:pPr/>
            <a:r>
              <a:rPr sz="1300"/>
              <a:t>- Combine deterministic rules with AI anomaly detection for better coverage.</a:t>
            </a:r>
          </a:p>
          <a:p>
            <a:pPr/>
            <a:r>
              <a:rPr sz="1300"/>
              <a:t>- Enable end-to-end workflow: ingest, detect, correlate, respond.</a:t>
            </a:r>
          </a:p>
          <a:p>
            <a:pPr/>
            <a:r>
              <a:rPr sz="1300"/>
              <a:t>- Provide mentor-ready demo with Dockerized deployment.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" name="TextBox 8">
            <a:extLst>
              <a:ext uri="{FF2B5EF4-FFF2-40B4-BE49-F238E27FC236}">
                <a16:creationId xmlns:a16="http://schemas.microsoft.com/office/drawing/2014/main" id="{73FCF8FB-A1FC-AFCE-D2FB-B88B87B16818}"/>
              </a:ext>
            </a:extLst>
          </p:cNvPr>
          <p:cNvSpPr txBox="1"/>
          <p:nvPr/>
        </p:nvSpPr>
        <p:spPr>
          <a:xfrm>
            <a:off x="4696639" y="456591"/>
            <a:ext cx="328476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 b="1"/>
              <a:t>Objectives:</a:t>
            </a:r>
            <a:endParaRPr lang="en-IN" sz="4000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5AAEC-B383-46AE-B680-503D41FE6A96}" type="slidenum">
              <a:rPr lang="en-IN" smtClean="0"/>
              <a:pPr/>
              <a:t>4</a:t>
            </a:fld>
            <a:endParaRPr lang="en-IN"/>
          </a:p>
        </p:txBody>
      </p:sp>
      <p:pic>
        <p:nvPicPr>
          <p:cNvPr id="11" name="image1.jpeg"/>
          <p:cNvPicPr/>
          <p:nvPr/>
        </p:nvPicPr>
        <p:blipFill>
          <a:blip r:embed="rId2" cstate="print"/>
          <a:srcRect l="1991" r="87176"/>
          <a:stretch>
            <a:fillRect/>
          </a:stretch>
        </p:blipFill>
        <p:spPr>
          <a:xfrm>
            <a:off x="404735" y="329783"/>
            <a:ext cx="764500" cy="103772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B0C626F-46AC-8CD2-5586-755E4C82D9E9}"/>
              </a:ext>
            </a:extLst>
          </p:cNvPr>
          <p:cNvSpPr txBox="1"/>
          <p:nvPr/>
        </p:nvSpPr>
        <p:spPr>
          <a:xfrm>
            <a:off x="1481077" y="1789907"/>
            <a:ext cx="9715889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sz="1300"/>
              <a:t>- Build a modular log ingestion and normalization pipeline.</a:t>
            </a:r>
          </a:p>
          <a:p>
            <a:pPr/>
            <a:r>
              <a:rPr sz="1300"/>
              <a:t>- Implement rule-based detection mapped to MITRE ATT&amp;CK techniques.</a:t>
            </a:r>
          </a:p>
          <a:p>
            <a:pPr/>
            <a:r>
              <a:rPr sz="1300"/>
              <a:t>- Train Isolation Forest model for AI anomaly scoring.</a:t>
            </a:r>
          </a:p>
          <a:p>
            <a:pPr/>
            <a:r>
              <a:rPr sz="1300"/>
              <a:t>- Correlate detections into actionable SOC incidents.</a:t>
            </a:r>
          </a:p>
          <a:p>
            <a:pPr/>
            <a:r>
              <a:rPr sz="1300"/>
              <a:t>- Deliver a React dashboard with live analytics and incident workflow.</a:t>
            </a:r>
          </a:p>
          <a:p>
            <a:pPr/>
            <a:r>
              <a:rPr sz="1300"/>
              <a:t>- Package the full stack with Docker Compose for reproducible demos.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" name="TextBox 8">
            <a:extLst>
              <a:ext uri="{FF2B5EF4-FFF2-40B4-BE49-F238E27FC236}">
                <a16:creationId xmlns:a16="http://schemas.microsoft.com/office/drawing/2014/main" id="{73FCF8FB-A1FC-AFCE-D2FB-B88B87B16818}"/>
              </a:ext>
            </a:extLst>
          </p:cNvPr>
          <p:cNvSpPr txBox="1"/>
          <p:nvPr/>
        </p:nvSpPr>
        <p:spPr>
          <a:xfrm>
            <a:off x="4696639" y="456591"/>
            <a:ext cx="328476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 b="1"/>
              <a:t>Existing System:</a:t>
            </a:r>
            <a:endParaRPr lang="en-IN" sz="4000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5AAEC-B383-46AE-B680-503D41FE6A96}" type="slidenum">
              <a:rPr lang="en-IN" smtClean="0"/>
              <a:pPr/>
              <a:t>4</a:t>
            </a:fld>
            <a:endParaRPr lang="en-IN"/>
          </a:p>
        </p:txBody>
      </p:sp>
      <p:pic>
        <p:nvPicPr>
          <p:cNvPr id="11" name="image1.jpeg"/>
          <p:cNvPicPr/>
          <p:nvPr/>
        </p:nvPicPr>
        <p:blipFill>
          <a:blip r:embed="rId2" cstate="print"/>
          <a:srcRect l="1991" r="87176"/>
          <a:stretch>
            <a:fillRect/>
          </a:stretch>
        </p:blipFill>
        <p:spPr>
          <a:xfrm>
            <a:off x="404735" y="329783"/>
            <a:ext cx="764500" cy="103772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B0C626F-46AC-8CD2-5586-755E4C82D9E9}"/>
              </a:ext>
            </a:extLst>
          </p:cNvPr>
          <p:cNvSpPr txBox="1"/>
          <p:nvPr/>
        </p:nvSpPr>
        <p:spPr>
          <a:xfrm>
            <a:off x="1481077" y="1789907"/>
            <a:ext cx="9715889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sz="1300"/>
              <a:t>- Commercial SIEM platforms (Splunk, Elastic Security, QRadar).</a:t>
            </a:r>
          </a:p>
          <a:p>
            <a:pPr/>
            <a:r>
              <a:rPr sz="1300"/>
              <a:t>- Open-source stacks (ELK + custom rules, Wazuh).</a:t>
            </a:r>
          </a:p>
          <a:p>
            <a:pPr/>
            <a:r>
              <a:rPr sz="1300"/>
              <a:t>- Manual spreadsheet or ticket-based incident tracking in small teams.</a:t>
            </a:r>
          </a:p>
          <a:p>
            <a:pPr/>
            <a:r>
              <a:rPr sz="1300"/>
              <a:t>- Isolated IDS/IPS alerts without unified SOC workflow.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" name="TextBox 8">
            <a:extLst>
              <a:ext uri="{FF2B5EF4-FFF2-40B4-BE49-F238E27FC236}">
                <a16:creationId xmlns:a16="http://schemas.microsoft.com/office/drawing/2014/main" id="{73FCF8FB-A1FC-AFCE-D2FB-B88B87B16818}"/>
              </a:ext>
            </a:extLst>
          </p:cNvPr>
          <p:cNvSpPr txBox="1"/>
          <p:nvPr/>
        </p:nvSpPr>
        <p:spPr>
          <a:xfrm>
            <a:off x="4696639" y="456591"/>
            <a:ext cx="328476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 b="1"/>
              <a:t>Limitations of Existing System:</a:t>
            </a:r>
            <a:endParaRPr lang="en-IN" sz="4000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5AAEC-B383-46AE-B680-503D41FE6A96}" type="slidenum">
              <a:rPr lang="en-IN" smtClean="0"/>
              <a:pPr/>
              <a:t>4</a:t>
            </a:fld>
            <a:endParaRPr lang="en-IN"/>
          </a:p>
        </p:txBody>
      </p:sp>
      <p:pic>
        <p:nvPicPr>
          <p:cNvPr id="11" name="image1.jpeg"/>
          <p:cNvPicPr/>
          <p:nvPr/>
        </p:nvPicPr>
        <p:blipFill>
          <a:blip r:embed="rId2" cstate="print"/>
          <a:srcRect l="1991" r="87176"/>
          <a:stretch>
            <a:fillRect/>
          </a:stretch>
        </p:blipFill>
        <p:spPr>
          <a:xfrm>
            <a:off x="404735" y="329783"/>
            <a:ext cx="764500" cy="103772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B0C626F-46AC-8CD2-5586-755E4C82D9E9}"/>
              </a:ext>
            </a:extLst>
          </p:cNvPr>
          <p:cNvSpPr txBox="1"/>
          <p:nvPr/>
        </p:nvSpPr>
        <p:spPr>
          <a:xfrm>
            <a:off x="1481077" y="1789907"/>
            <a:ext cx="9715889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sz="1300"/>
              <a:t>- High licensing and infrastructure cost for full commercial SIEM.</a:t>
            </a:r>
          </a:p>
          <a:p>
            <a:pPr/>
            <a:r>
              <a:rPr sz="1300"/>
              <a:t>- Complex setup unsuitable for rapid student demonstration.</a:t>
            </a:r>
          </a:p>
          <a:p>
            <a:pPr/>
            <a:r>
              <a:rPr sz="1300"/>
              <a:t>- Alert fatigue without strong incident correlation.</a:t>
            </a:r>
          </a:p>
          <a:p>
            <a:pPr/>
            <a:r>
              <a:rPr sz="1300"/>
              <a:t>- Limited explainability in black-box detections.</a:t>
            </a:r>
          </a:p>
          <a:p>
            <a:pPr/>
            <a:r>
              <a:rPr sz="1300"/>
              <a:t>- Weak integration between ingestion, AI scoring, and analyst workflow.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" name="TextBox 8">
            <a:extLst>
              <a:ext uri="{FF2B5EF4-FFF2-40B4-BE49-F238E27FC236}">
                <a16:creationId xmlns:a16="http://schemas.microsoft.com/office/drawing/2014/main" id="{73FCF8FB-A1FC-AFCE-D2FB-B88B87B16818}"/>
              </a:ext>
            </a:extLst>
          </p:cNvPr>
          <p:cNvSpPr txBox="1"/>
          <p:nvPr/>
        </p:nvSpPr>
        <p:spPr>
          <a:xfrm>
            <a:off x="4696639" y="456591"/>
            <a:ext cx="328476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 b="1"/>
              <a:t>Proposed System:</a:t>
            </a:r>
            <a:endParaRPr lang="en-IN" sz="4000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5AAEC-B383-46AE-B680-503D41FE6A96}" type="slidenum">
              <a:rPr lang="en-IN" smtClean="0"/>
              <a:pPr/>
              <a:t>4</a:t>
            </a:fld>
            <a:endParaRPr lang="en-IN"/>
          </a:p>
        </p:txBody>
      </p:sp>
      <p:pic>
        <p:nvPicPr>
          <p:cNvPr id="11" name="image1.jpeg"/>
          <p:cNvPicPr/>
          <p:nvPr/>
        </p:nvPicPr>
        <p:blipFill>
          <a:blip r:embed="rId2" cstate="print"/>
          <a:srcRect l="1991" r="87176"/>
          <a:stretch>
            <a:fillRect/>
          </a:stretch>
        </p:blipFill>
        <p:spPr>
          <a:xfrm>
            <a:off x="404735" y="329783"/>
            <a:ext cx="764500" cy="103772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B0C626F-46AC-8CD2-5586-755E4C82D9E9}"/>
              </a:ext>
            </a:extLst>
          </p:cNvPr>
          <p:cNvSpPr txBox="1"/>
          <p:nvPr/>
        </p:nvSpPr>
        <p:spPr>
          <a:xfrm>
            <a:off x="1481077" y="1789907"/>
            <a:ext cx="9715889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sz="1300"/>
              <a:t>- Cyber Threat Detection and Incident Response Dashboard (lightweight SIEM).</a:t>
            </a:r>
          </a:p>
          <a:p>
            <a:pPr/>
            <a:r>
              <a:rPr sz="1300"/>
              <a:t>- Four log sources: Windows, Linux, Firewall, Web Server.</a:t>
            </a:r>
          </a:p>
          <a:p>
            <a:pPr/>
            <a:r>
              <a:rPr sz="1300"/>
              <a:t>- Dual detection: rule engine + Isolation Forest anomaly model.</a:t>
            </a:r>
          </a:p>
          <a:p>
            <a:pPr/>
            <a:r>
              <a:rPr sz="1300"/>
              <a:t>- Incident correlation with status workflow and investigation notes.</a:t>
            </a:r>
          </a:p>
          <a:p>
            <a:pPr/>
            <a:r>
              <a:rPr sz="1300"/>
              <a:t>- JWT/RBAC authentication and analytics-driven React console.</a:t>
            </a:r>
          </a:p>
          <a:p>
            <a:pPr/>
            <a:r>
              <a:rPr sz="1300"/>
              <a:t>- Fully containerized: FastAPI, MongoDB, Elasticsearch, React.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00000" y="1650000"/>
            <a:ext cx="3900000" cy="2400000"/>
          </a:xfrm>
          <a:prstGeom prst="roundRect">
            <a:avLst/>
          </a:prstGeom>
          <a:solidFill>
            <a:srgbClr val="E7EEF5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i="1">
                <a:solidFill>
                  <a:srgbClr val="5B6478"/>
                </a:solidFill>
              </a:rPr>
              <a:t>[Insert Architecture Diagram]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" name="TextBox 8">
            <a:extLst>
              <a:ext uri="{FF2B5EF4-FFF2-40B4-BE49-F238E27FC236}">
                <a16:creationId xmlns:a16="http://schemas.microsoft.com/office/drawing/2014/main" id="{73FCF8FB-A1FC-AFCE-D2FB-B88B87B16818}"/>
              </a:ext>
            </a:extLst>
          </p:cNvPr>
          <p:cNvSpPr txBox="1"/>
          <p:nvPr/>
        </p:nvSpPr>
        <p:spPr>
          <a:xfrm>
            <a:off x="4696639" y="456591"/>
            <a:ext cx="328476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 b="1"/>
              <a:t>System Architecture:</a:t>
            </a:r>
            <a:endParaRPr lang="en-IN" sz="4000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5AAEC-B383-46AE-B680-503D41FE6A96}" type="slidenum">
              <a:rPr lang="en-IN" smtClean="0"/>
              <a:pPr/>
              <a:t>4</a:t>
            </a:fld>
            <a:endParaRPr lang="en-IN"/>
          </a:p>
        </p:txBody>
      </p:sp>
      <p:pic>
        <p:nvPicPr>
          <p:cNvPr id="11" name="image1.jpeg"/>
          <p:cNvPicPr/>
          <p:nvPr/>
        </p:nvPicPr>
        <p:blipFill>
          <a:blip r:embed="rId2" cstate="print"/>
          <a:srcRect l="1991" r="87176"/>
          <a:stretch>
            <a:fillRect/>
          </a:stretch>
        </p:blipFill>
        <p:spPr>
          <a:xfrm>
            <a:off x="404735" y="329783"/>
            <a:ext cx="764500" cy="103772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B0C626F-46AC-8CD2-5586-755E4C82D9E9}"/>
              </a:ext>
            </a:extLst>
          </p:cNvPr>
          <p:cNvSpPr txBox="1"/>
          <p:nvPr/>
        </p:nvSpPr>
        <p:spPr>
          <a:xfrm>
            <a:off x="1481077" y="1789907"/>
            <a:ext cx="9715889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sz="1300"/>
              <a:t>- Log Sources to Ingestion API to Parser/Normalizer to Elasticsearch.</a:t>
            </a:r>
          </a:p>
          <a:p>
            <a:pPr/>
            <a:r>
              <a:rPr sz="1300"/>
              <a:t>- Normalized logs to Rule Engine + ML Engine to Detection Events.</a:t>
            </a:r>
          </a:p>
          <a:p>
            <a:pPr/>
            <a:r>
              <a:rPr sz="1300"/>
              <a:t>- Detection Events to Incident Correlator to MongoDB Incidents/Alerts.</a:t>
            </a:r>
          </a:p>
          <a:p>
            <a:pPr/>
            <a:r>
              <a:rPr sz="1300"/>
              <a:t>- React Dashboard consumes REST APIs for auth, logs, detections, incidents, analytics.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0000" y="5350000"/>
            <a:ext cx="2014400" cy="720000"/>
          </a:xfrm>
          <a:prstGeom prst="roundRect">
            <a:avLst/>
          </a:prstGeom>
          <a:solidFill>
            <a:srgbClr val="F5F8FB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1F4E79"/>
                </a:solidFill>
              </a:rPr>
              <a:t>Sources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2654400" y="5590000"/>
            <a:ext cx="150000" cy="240000"/>
          </a:xfrm>
          <a:prstGeom prst="rightArrow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844400" y="5350000"/>
            <a:ext cx="2014400" cy="720000"/>
          </a:xfrm>
          <a:prstGeom prst="roundRect">
            <a:avLst/>
          </a:prstGeom>
          <a:solidFill>
            <a:srgbClr val="F5F8FB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1F4E79"/>
                </a:solidFill>
              </a:rPr>
              <a:t>Ingest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4898800" y="5590000"/>
            <a:ext cx="150000" cy="240000"/>
          </a:xfrm>
          <a:prstGeom prst="rightArrow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088800" y="5350000"/>
            <a:ext cx="2014400" cy="720000"/>
          </a:xfrm>
          <a:prstGeom prst="roundRect">
            <a:avLst/>
          </a:prstGeom>
          <a:solidFill>
            <a:srgbClr val="F5F8FB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1F4E79"/>
                </a:solidFill>
              </a:rPr>
              <a:t>Detect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143200" y="5590000"/>
            <a:ext cx="150000" cy="240000"/>
          </a:xfrm>
          <a:prstGeom prst="rightArrow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333200" y="5350000"/>
            <a:ext cx="2014400" cy="720000"/>
          </a:xfrm>
          <a:prstGeom prst="roundRect">
            <a:avLst/>
          </a:prstGeom>
          <a:solidFill>
            <a:srgbClr val="F5F8FB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1F4E79"/>
                </a:solidFill>
              </a:rPr>
              <a:t>Correlate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9387600" y="5590000"/>
            <a:ext cx="150000" cy="240000"/>
          </a:xfrm>
          <a:prstGeom prst="rightArrow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577600" y="5350000"/>
            <a:ext cx="2014400" cy="720000"/>
          </a:xfrm>
          <a:prstGeom prst="roundRect">
            <a:avLst/>
          </a:prstGeom>
          <a:solidFill>
            <a:srgbClr val="F5F8FB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1F4E79"/>
                </a:solidFill>
              </a:rPr>
              <a:t>Dashboard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00000" y="1650000"/>
            <a:ext cx="3900000" cy="2400000"/>
          </a:xfrm>
          <a:prstGeom prst="roundRect">
            <a:avLst/>
          </a:prstGeom>
          <a:solidFill>
            <a:srgbClr val="E7EEF5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i="1">
                <a:solidFill>
                  <a:srgbClr val="5B6478"/>
                </a:solidFill>
              </a:rPr>
              <a:t>[Insert Architecture Diagram]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" name="TextBox 8">
            <a:extLst>
              <a:ext uri="{FF2B5EF4-FFF2-40B4-BE49-F238E27FC236}">
                <a16:creationId xmlns:a16="http://schemas.microsoft.com/office/drawing/2014/main" id="{73FCF8FB-A1FC-AFCE-D2FB-B88B87B16818}"/>
              </a:ext>
            </a:extLst>
          </p:cNvPr>
          <p:cNvSpPr txBox="1"/>
          <p:nvPr/>
        </p:nvSpPr>
        <p:spPr>
          <a:xfrm>
            <a:off x="4696639" y="456591"/>
            <a:ext cx="328476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 b="1"/>
              <a:t>Technology Stack:</a:t>
            </a:r>
            <a:endParaRPr lang="en-IN" sz="4000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5AAEC-B383-46AE-B680-503D41FE6A96}" type="slidenum">
              <a:rPr lang="en-IN" smtClean="0"/>
              <a:pPr/>
              <a:t>4</a:t>
            </a:fld>
            <a:endParaRPr lang="en-IN"/>
          </a:p>
        </p:txBody>
      </p:sp>
      <p:pic>
        <p:nvPicPr>
          <p:cNvPr id="11" name="image1.jpeg"/>
          <p:cNvPicPr/>
          <p:nvPr/>
        </p:nvPicPr>
        <p:blipFill>
          <a:blip r:embed="rId2" cstate="print"/>
          <a:srcRect l="1991" r="87176"/>
          <a:stretch>
            <a:fillRect/>
          </a:stretch>
        </p:blipFill>
        <p:spPr>
          <a:xfrm>
            <a:off x="404735" y="329783"/>
            <a:ext cx="764500" cy="103772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B0C626F-46AC-8CD2-5586-755E4C82D9E9}"/>
              </a:ext>
            </a:extLst>
          </p:cNvPr>
          <p:cNvSpPr txBox="1"/>
          <p:nvPr/>
        </p:nvSpPr>
        <p:spPr>
          <a:xfrm>
            <a:off x="1481077" y="1789907"/>
            <a:ext cx="9715889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sz="1300"/>
              <a:t>- Backend: FastAPI, Python, JWT/RBAC, Motor (MongoDB), Elasticsearch client.</a:t>
            </a:r>
          </a:p>
          <a:p>
            <a:pPr/>
            <a:r>
              <a:rPr sz="1300"/>
              <a:t>- Frontend: React, TypeScript, Vite, TanStack Query, Axios, Recharts, Tailwind.</a:t>
            </a:r>
          </a:p>
          <a:p>
            <a:pPr/>
            <a:r>
              <a:rPr sz="1300"/>
              <a:t>- Data: MongoDB (users, detections, incidents), Elasticsearch (security logs).</a:t>
            </a:r>
          </a:p>
          <a:p>
            <a:pPr/>
            <a:r>
              <a:rPr sz="1300"/>
              <a:t>- ML: scikit-learn Isolation Forest, joblib model registry.</a:t>
            </a:r>
          </a:p>
          <a:p>
            <a:pPr/>
            <a:r>
              <a:rPr sz="1300"/>
              <a:t>- Ops: Docker Compose, Uvicorn, Kibana (optional inspection).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" name="TextBox 8">
            <a:extLst>
              <a:ext uri="{FF2B5EF4-FFF2-40B4-BE49-F238E27FC236}">
                <a16:creationId xmlns:a16="http://schemas.microsoft.com/office/drawing/2014/main" id="{73FCF8FB-A1FC-AFCE-D2FB-B88B87B16818}"/>
              </a:ext>
            </a:extLst>
          </p:cNvPr>
          <p:cNvSpPr txBox="1"/>
          <p:nvPr/>
        </p:nvSpPr>
        <p:spPr>
          <a:xfrm>
            <a:off x="4696639" y="456591"/>
            <a:ext cx="328476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 b="1"/>
              <a:t>Project Workflow:</a:t>
            </a:r>
            <a:endParaRPr lang="en-IN" sz="4000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5AAEC-B383-46AE-B680-503D41FE6A96}" type="slidenum">
              <a:rPr lang="en-IN" smtClean="0"/>
              <a:pPr/>
              <a:t>4</a:t>
            </a:fld>
            <a:endParaRPr lang="en-IN"/>
          </a:p>
        </p:txBody>
      </p:sp>
      <p:pic>
        <p:nvPicPr>
          <p:cNvPr id="11" name="image1.jpeg"/>
          <p:cNvPicPr/>
          <p:nvPr/>
        </p:nvPicPr>
        <p:blipFill>
          <a:blip r:embed="rId2" cstate="print"/>
          <a:srcRect l="1991" r="87176"/>
          <a:stretch>
            <a:fillRect/>
          </a:stretch>
        </p:blipFill>
        <p:spPr>
          <a:xfrm>
            <a:off x="404735" y="329783"/>
            <a:ext cx="764500" cy="103772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B0C626F-46AC-8CD2-5586-755E4C82D9E9}"/>
              </a:ext>
            </a:extLst>
          </p:cNvPr>
          <p:cNvSpPr txBox="1"/>
          <p:nvPr/>
        </p:nvSpPr>
        <p:spPr>
          <a:xfrm>
            <a:off x="1481077" y="1789907"/>
            <a:ext cx="9715889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sz="1300"/>
              <a:t>- Analyst authenticates with JWT access/refresh tokens.</a:t>
            </a:r>
          </a:p>
          <a:p>
            <a:pPr/>
            <a:r>
              <a:rPr sz="1300"/>
              <a:t>- Uploads sample or production-like log files by source type.</a:t>
            </a:r>
          </a:p>
          <a:p>
            <a:pPr/>
            <a:r>
              <a:rPr sz="1300"/>
              <a:t>- Pipeline parses, normalizes, deduplicates, and indexes logs.</a:t>
            </a:r>
          </a:p>
          <a:p>
            <a:pPr/>
            <a:r>
              <a:rPr sz="1300"/>
              <a:t>- Rules and ML score the batch; detections and alerts persist.</a:t>
            </a:r>
          </a:p>
          <a:p>
            <a:pPr/>
            <a:r>
              <a:rPr sz="1300"/>
              <a:t>- Correlator opens/updates incidents; dashboard analytics refresh.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0000" y="5350000"/>
            <a:ext cx="2014400" cy="720000"/>
          </a:xfrm>
          <a:prstGeom prst="roundRect">
            <a:avLst/>
          </a:prstGeom>
          <a:solidFill>
            <a:srgbClr val="F5F8FB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1F4E79"/>
                </a:solidFill>
              </a:rPr>
              <a:t>Login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2654400" y="5590000"/>
            <a:ext cx="150000" cy="240000"/>
          </a:xfrm>
          <a:prstGeom prst="rightArrow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844400" y="5350000"/>
            <a:ext cx="2014400" cy="720000"/>
          </a:xfrm>
          <a:prstGeom prst="roundRect">
            <a:avLst/>
          </a:prstGeom>
          <a:solidFill>
            <a:srgbClr val="F5F8FB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1F4E79"/>
                </a:solidFill>
              </a:rPr>
              <a:t>Upload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4898800" y="5590000"/>
            <a:ext cx="150000" cy="240000"/>
          </a:xfrm>
          <a:prstGeom prst="rightArrow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088800" y="5350000"/>
            <a:ext cx="2014400" cy="720000"/>
          </a:xfrm>
          <a:prstGeom prst="roundRect">
            <a:avLst/>
          </a:prstGeom>
          <a:solidFill>
            <a:srgbClr val="F5F8FB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1F4E79"/>
                </a:solidFill>
              </a:rPr>
              <a:t>Detect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143200" y="5590000"/>
            <a:ext cx="150000" cy="240000"/>
          </a:xfrm>
          <a:prstGeom prst="rightArrow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333200" y="5350000"/>
            <a:ext cx="2014400" cy="720000"/>
          </a:xfrm>
          <a:prstGeom prst="roundRect">
            <a:avLst/>
          </a:prstGeom>
          <a:solidFill>
            <a:srgbClr val="F5F8FB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1F4E79"/>
                </a:solidFill>
              </a:rPr>
              <a:t>Incident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9387600" y="5590000"/>
            <a:ext cx="150000" cy="240000"/>
          </a:xfrm>
          <a:prstGeom prst="rightArrow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577600" y="5350000"/>
            <a:ext cx="2014400" cy="720000"/>
          </a:xfrm>
          <a:prstGeom prst="roundRect">
            <a:avLst/>
          </a:prstGeom>
          <a:solidFill>
            <a:srgbClr val="F5F8FB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1F4E79"/>
                </a:solidFill>
              </a:rPr>
              <a:t>Analyze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" name="TextBox 8">
            <a:extLst>
              <a:ext uri="{FF2B5EF4-FFF2-40B4-BE49-F238E27FC236}">
                <a16:creationId xmlns:a16="http://schemas.microsoft.com/office/drawing/2014/main" id="{73FCF8FB-A1FC-AFCE-D2FB-B88B87B16818}"/>
              </a:ext>
            </a:extLst>
          </p:cNvPr>
          <p:cNvSpPr txBox="1"/>
          <p:nvPr/>
        </p:nvSpPr>
        <p:spPr>
          <a:xfrm>
            <a:off x="4696639" y="456591"/>
            <a:ext cx="328476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 b="1"/>
              <a:t>Log Collection Pipeline:</a:t>
            </a:r>
            <a:endParaRPr lang="en-IN" sz="4000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5AAEC-B383-46AE-B680-503D41FE6A96}" type="slidenum">
              <a:rPr lang="en-IN" smtClean="0"/>
              <a:pPr/>
              <a:t>4</a:t>
            </a:fld>
            <a:endParaRPr lang="en-IN"/>
          </a:p>
        </p:txBody>
      </p:sp>
      <p:pic>
        <p:nvPicPr>
          <p:cNvPr id="11" name="image1.jpeg"/>
          <p:cNvPicPr/>
          <p:nvPr/>
        </p:nvPicPr>
        <p:blipFill>
          <a:blip r:embed="rId2" cstate="print"/>
          <a:srcRect l="1991" r="87176"/>
          <a:stretch>
            <a:fillRect/>
          </a:stretch>
        </p:blipFill>
        <p:spPr>
          <a:xfrm>
            <a:off x="404735" y="329783"/>
            <a:ext cx="764500" cy="103772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B0C626F-46AC-8CD2-5586-755E4C82D9E9}"/>
              </a:ext>
            </a:extLst>
          </p:cNvPr>
          <p:cNvSpPr txBox="1"/>
          <p:nvPr/>
        </p:nvSpPr>
        <p:spPr>
          <a:xfrm>
            <a:off x="1481077" y="1789907"/>
            <a:ext cx="9715889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sz="1300"/>
              <a:t>- Parsers: Windows JSON, Linux syslog/auth, Firewall ALLOW/DENY, Apache CLF.</a:t>
            </a:r>
          </a:p>
          <a:p>
            <a:pPr/>
            <a:r>
              <a:rPr sz="1300"/>
              <a:t>- Normalizer produces canonical NormalizedLog schema.</a:t>
            </a:r>
          </a:p>
          <a:p>
            <a:pPr/>
            <a:r>
              <a:rPr sz="1300"/>
              <a:t>- Deterministic content-hash log_id for idempotent re-ingestion.</a:t>
            </a:r>
          </a:p>
          <a:p>
            <a:pPr/>
            <a:r>
              <a:rPr sz="1300"/>
              <a:t>- Bulk index into daily Elasticsearch indices (security-logs-YYYY.MM.DD).</a:t>
            </a:r>
          </a:p>
          <a:p>
            <a:pPr/>
            <a:r>
              <a:rPr sz="1300"/>
              <a:t>- Ingestion batch audit trail stored in MongoDB.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0000" y="5350000"/>
            <a:ext cx="2014400" cy="720000"/>
          </a:xfrm>
          <a:prstGeom prst="roundRect">
            <a:avLst/>
          </a:prstGeom>
          <a:solidFill>
            <a:srgbClr val="F5F8FB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1F4E79"/>
                </a:solidFill>
              </a:rPr>
              <a:t>Upload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2654400" y="5590000"/>
            <a:ext cx="150000" cy="240000"/>
          </a:xfrm>
          <a:prstGeom prst="rightArrow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844400" y="5350000"/>
            <a:ext cx="2014400" cy="720000"/>
          </a:xfrm>
          <a:prstGeom prst="roundRect">
            <a:avLst/>
          </a:prstGeom>
          <a:solidFill>
            <a:srgbClr val="F5F8FB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1F4E79"/>
                </a:solidFill>
              </a:rPr>
              <a:t>Parse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4898800" y="5590000"/>
            <a:ext cx="150000" cy="240000"/>
          </a:xfrm>
          <a:prstGeom prst="rightArrow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088800" y="5350000"/>
            <a:ext cx="2014400" cy="720000"/>
          </a:xfrm>
          <a:prstGeom prst="roundRect">
            <a:avLst/>
          </a:prstGeom>
          <a:solidFill>
            <a:srgbClr val="F5F8FB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1F4E79"/>
                </a:solidFill>
              </a:rPr>
              <a:t>Normalize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143200" y="5590000"/>
            <a:ext cx="150000" cy="240000"/>
          </a:xfrm>
          <a:prstGeom prst="rightArrow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333200" y="5350000"/>
            <a:ext cx="2014400" cy="720000"/>
          </a:xfrm>
          <a:prstGeom prst="roundRect">
            <a:avLst/>
          </a:prstGeom>
          <a:solidFill>
            <a:srgbClr val="F5F8FB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1F4E79"/>
                </a:solidFill>
              </a:rPr>
              <a:t>Dedupe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9387600" y="5590000"/>
            <a:ext cx="150000" cy="240000"/>
          </a:xfrm>
          <a:prstGeom prst="rightArrow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577600" y="5350000"/>
            <a:ext cx="2014400" cy="720000"/>
          </a:xfrm>
          <a:prstGeom prst="roundRect">
            <a:avLst/>
          </a:prstGeom>
          <a:solidFill>
            <a:srgbClr val="F5F8FB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1F4E79"/>
                </a:solidFill>
              </a:rPr>
              <a:t>Index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00000" y="1650000"/>
            <a:ext cx="3900000" cy="2400000"/>
          </a:xfrm>
          <a:prstGeom prst="roundRect">
            <a:avLst/>
          </a:prstGeom>
          <a:solidFill>
            <a:srgbClr val="E7EEF5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i="1">
                <a:solidFill>
                  <a:srgbClr val="5B6478"/>
                </a:solidFill>
              </a:rPr>
              <a:t>[Insert Log Upload Screenshot]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" name="TextBox 8">
            <a:extLst>
              <a:ext uri="{FF2B5EF4-FFF2-40B4-BE49-F238E27FC236}">
                <a16:creationId xmlns:a16="http://schemas.microsoft.com/office/drawing/2014/main" id="{73FCF8FB-A1FC-AFCE-D2FB-B88B87B16818}"/>
              </a:ext>
            </a:extLst>
          </p:cNvPr>
          <p:cNvSpPr txBox="1"/>
          <p:nvPr/>
        </p:nvSpPr>
        <p:spPr>
          <a:xfrm>
            <a:off x="4696639" y="456591"/>
            <a:ext cx="328476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 b="1"/>
              <a:t>Rule-Based Detection:</a:t>
            </a:r>
            <a:endParaRPr lang="en-IN" sz="4000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5AAEC-B383-46AE-B680-503D41FE6A96}" type="slidenum">
              <a:rPr lang="en-IN" smtClean="0"/>
              <a:pPr/>
              <a:t>4</a:t>
            </a:fld>
            <a:endParaRPr lang="en-IN"/>
          </a:p>
        </p:txBody>
      </p:sp>
      <p:pic>
        <p:nvPicPr>
          <p:cNvPr id="11" name="image1.jpeg"/>
          <p:cNvPicPr/>
          <p:nvPr/>
        </p:nvPicPr>
        <p:blipFill>
          <a:blip r:embed="rId2" cstate="print"/>
          <a:srcRect l="1991" r="87176"/>
          <a:stretch>
            <a:fillRect/>
          </a:stretch>
        </p:blipFill>
        <p:spPr>
          <a:xfrm>
            <a:off x="404735" y="329783"/>
            <a:ext cx="764500" cy="103772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B0C626F-46AC-8CD2-5586-755E4C82D9E9}"/>
              </a:ext>
            </a:extLst>
          </p:cNvPr>
          <p:cNvSpPr txBox="1"/>
          <p:nvPr/>
        </p:nvSpPr>
        <p:spPr>
          <a:xfrm>
            <a:off x="1481077" y="1789907"/>
            <a:ext cx="9715889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sz="1300"/>
              <a:t>- Eight modular rules including SSH brute force, Windows failed login, port scan.</a:t>
            </a:r>
          </a:p>
          <a:p>
            <a:pPr/>
            <a:r>
              <a:rPr sz="1300"/>
              <a:t>- Web attacks: SQL injection, XSS, directory traversal; plus privilege escalation.</a:t>
            </a:r>
          </a:p>
          <a:p>
            <a:pPr/>
            <a:r>
              <a:rPr sz="1300"/>
              <a:t>- MITRE ATT&amp;CK mapping with confidence and severity on each DetectionEvent.</a:t>
            </a:r>
          </a:p>
          <a:p>
            <a:pPr/>
            <a:r>
              <a:rPr sz="1300"/>
              <a:t>- RuleEngine isolates failures so one rule cannot crash the pipeline.</a:t>
            </a:r>
          </a:p>
          <a:p>
            <a:pPr/>
            <a:r>
              <a:rPr sz="1300"/>
              <a:t>- Admin API can enable/disable rules at runtime.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00000" y="1650000"/>
            <a:ext cx="3900000" cy="2400000"/>
          </a:xfrm>
          <a:prstGeom prst="roundRect">
            <a:avLst/>
          </a:prstGeom>
          <a:solidFill>
            <a:srgbClr val="E7EEF5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i="1">
                <a:solidFill>
                  <a:srgbClr val="5B6478"/>
                </a:solidFill>
              </a:rPr>
              <a:t>[Insert Threat Detection Screenshot]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" name="TextBox 8">
            <a:extLst>
              <a:ext uri="{FF2B5EF4-FFF2-40B4-BE49-F238E27FC236}">
                <a16:creationId xmlns:a16="http://schemas.microsoft.com/office/drawing/2014/main" id="{73FCF8FB-A1FC-AFCE-D2FB-B88B87B16818}"/>
              </a:ext>
            </a:extLst>
          </p:cNvPr>
          <p:cNvSpPr txBox="1"/>
          <p:nvPr/>
        </p:nvSpPr>
        <p:spPr>
          <a:xfrm>
            <a:off x="4696639" y="456591"/>
            <a:ext cx="328476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 b="1"/>
              <a:t>AI Anomaly Detection:</a:t>
            </a:r>
            <a:endParaRPr lang="en-IN" sz="4000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5AAEC-B383-46AE-B680-503D41FE6A96}" type="slidenum">
              <a:rPr lang="en-IN" smtClean="0"/>
              <a:pPr/>
              <a:t>4</a:t>
            </a:fld>
            <a:endParaRPr lang="en-IN"/>
          </a:p>
        </p:txBody>
      </p:sp>
      <p:pic>
        <p:nvPicPr>
          <p:cNvPr id="11" name="image1.jpeg"/>
          <p:cNvPicPr/>
          <p:nvPr/>
        </p:nvPicPr>
        <p:blipFill>
          <a:blip r:embed="rId2" cstate="print"/>
          <a:srcRect l="1991" r="87176"/>
          <a:stretch>
            <a:fillRect/>
          </a:stretch>
        </p:blipFill>
        <p:spPr>
          <a:xfrm>
            <a:off x="404735" y="329783"/>
            <a:ext cx="764500" cy="103772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B0C626F-46AC-8CD2-5586-755E4C82D9E9}"/>
              </a:ext>
            </a:extLst>
          </p:cNvPr>
          <p:cNvSpPr txBox="1"/>
          <p:nvPr/>
        </p:nvSpPr>
        <p:spPr>
          <a:xfrm>
            <a:off x="1481077" y="1789907"/>
            <a:ext cx="9715889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sz="1300"/>
              <a:t>- Isolation Forest behind a pluggable AnomalyModel interface.</a:t>
            </a:r>
          </a:p>
          <a:p>
            <a:pPr/>
            <a:r>
              <a:rPr sz="1300"/>
              <a:t>- Per-entity feature extraction for IP/user oriented signals.</a:t>
            </a:r>
          </a:p>
          <a:p>
            <a:pPr/>
            <a:r>
              <a:rPr sz="1300"/>
              <a:t>- Versioned model registry with train, predict, and evaluate APIs.</a:t>
            </a:r>
          </a:p>
          <a:p>
            <a:pPr/>
            <a:r>
              <a:rPr sz="1300"/>
              <a:t>- Risk percentage and explanation fields for viva/demo explainability.</a:t>
            </a:r>
          </a:p>
          <a:p>
            <a:pPr/>
            <a:r>
              <a:rPr sz="1300"/>
              <a:t>- Labeled sample dataset supports precision/recall/F1 reporting.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0000" y="5350000"/>
            <a:ext cx="2014400" cy="720000"/>
          </a:xfrm>
          <a:prstGeom prst="roundRect">
            <a:avLst/>
          </a:prstGeom>
          <a:solidFill>
            <a:srgbClr val="F5F8FB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1F4E79"/>
                </a:solidFill>
              </a:rPr>
              <a:t>Features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2654400" y="5590000"/>
            <a:ext cx="150000" cy="240000"/>
          </a:xfrm>
          <a:prstGeom prst="rightArrow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844400" y="5350000"/>
            <a:ext cx="2014400" cy="720000"/>
          </a:xfrm>
          <a:prstGeom prst="roundRect">
            <a:avLst/>
          </a:prstGeom>
          <a:solidFill>
            <a:srgbClr val="F5F8FB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1F4E79"/>
                </a:solidFill>
              </a:rPr>
              <a:t>Train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4898800" y="5590000"/>
            <a:ext cx="150000" cy="240000"/>
          </a:xfrm>
          <a:prstGeom prst="rightArrow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088800" y="5350000"/>
            <a:ext cx="2014400" cy="720000"/>
          </a:xfrm>
          <a:prstGeom prst="roundRect">
            <a:avLst/>
          </a:prstGeom>
          <a:solidFill>
            <a:srgbClr val="F5F8FB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1F4E79"/>
                </a:solidFill>
              </a:rPr>
              <a:t>Score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143200" y="5590000"/>
            <a:ext cx="150000" cy="240000"/>
          </a:xfrm>
          <a:prstGeom prst="rightArrow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333200" y="5350000"/>
            <a:ext cx="2014400" cy="720000"/>
          </a:xfrm>
          <a:prstGeom prst="roundRect">
            <a:avLst/>
          </a:prstGeom>
          <a:solidFill>
            <a:srgbClr val="F5F8FB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1F4E79"/>
                </a:solidFill>
              </a:rPr>
              <a:t>Detect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9387600" y="5590000"/>
            <a:ext cx="150000" cy="240000"/>
          </a:xfrm>
          <a:prstGeom prst="rightArrow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577600" y="5350000"/>
            <a:ext cx="2014400" cy="720000"/>
          </a:xfrm>
          <a:prstGeom prst="roundRect">
            <a:avLst/>
          </a:prstGeom>
          <a:solidFill>
            <a:srgbClr val="F5F8FB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1F4E79"/>
                </a:solidFill>
              </a:rPr>
              <a:t>Alert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00000" y="1650000"/>
            <a:ext cx="3900000" cy="2400000"/>
          </a:xfrm>
          <a:prstGeom prst="roundRect">
            <a:avLst/>
          </a:prstGeom>
          <a:solidFill>
            <a:srgbClr val="E7EEF5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i="1">
                <a:solidFill>
                  <a:srgbClr val="5B6478"/>
                </a:solidFill>
              </a:rPr>
              <a:t>[Insert AI Detection Screenshot]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" name="TextBox 8">
            <a:extLst>
              <a:ext uri="{FF2B5EF4-FFF2-40B4-BE49-F238E27FC236}">
                <a16:creationId xmlns:a16="http://schemas.microsoft.com/office/drawing/2014/main" id="{73FCF8FB-A1FC-AFCE-D2FB-B88B87B16818}"/>
              </a:ext>
            </a:extLst>
          </p:cNvPr>
          <p:cNvSpPr txBox="1"/>
          <p:nvPr/>
        </p:nvSpPr>
        <p:spPr>
          <a:xfrm>
            <a:off x="4696639" y="456591"/>
            <a:ext cx="328476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 b="1"/>
              <a:t>Incident Response Workflow:</a:t>
            </a:r>
            <a:endParaRPr lang="en-IN" sz="4000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5AAEC-B383-46AE-B680-503D41FE6A96}" type="slidenum">
              <a:rPr lang="en-IN" smtClean="0"/>
              <a:pPr/>
              <a:t>4</a:t>
            </a:fld>
            <a:endParaRPr lang="en-IN"/>
          </a:p>
        </p:txBody>
      </p:sp>
      <p:pic>
        <p:nvPicPr>
          <p:cNvPr id="11" name="image1.jpeg"/>
          <p:cNvPicPr/>
          <p:nvPr/>
        </p:nvPicPr>
        <p:blipFill>
          <a:blip r:embed="rId2" cstate="print"/>
          <a:srcRect l="1991" r="87176"/>
          <a:stretch>
            <a:fillRect/>
          </a:stretch>
        </p:blipFill>
        <p:spPr>
          <a:xfrm>
            <a:off x="404735" y="329783"/>
            <a:ext cx="764500" cy="103772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B0C626F-46AC-8CD2-5586-755E4C82D9E9}"/>
              </a:ext>
            </a:extLst>
          </p:cNvPr>
          <p:cNvSpPr txBox="1"/>
          <p:nvPr/>
        </p:nvSpPr>
        <p:spPr>
          <a:xfrm>
            <a:off x="1481077" y="1789907"/>
            <a:ext cx="9715889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sz="1300"/>
              <a:t>- Correlate detections by entity and threat key (no one-to-one alert spam).</a:t>
            </a:r>
          </a:p>
          <a:p>
            <a:pPr/>
            <a:r>
              <a:rPr sz="1300"/>
              <a:t>- Human-readable IDs: INC-1001, INC-1002, and so on.</a:t>
            </a:r>
          </a:p>
          <a:p>
            <a:pPr/>
            <a:r>
              <a:rPr sz="1300"/>
              <a:t>- Status machine: OPEN to INVESTIGATING to RESOLVED to CLOSED.</a:t>
            </a:r>
          </a:p>
          <a:p>
            <a:pPr/>
            <a:r>
              <a:rPr sz="1300"/>
              <a:t>- Assign analyst, add investigation notes, escalate severity when needed.</a:t>
            </a:r>
          </a:p>
          <a:p>
            <a:pPr/>
            <a:r>
              <a:rPr sz="1300"/>
              <a:t>- Timeline preserved for audit integrity; incidents are closed, not deleted.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0000" y="5350000"/>
            <a:ext cx="2575500" cy="720000"/>
          </a:xfrm>
          <a:prstGeom prst="roundRect">
            <a:avLst/>
          </a:prstGeom>
          <a:solidFill>
            <a:srgbClr val="F5F8FB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1F4E79"/>
                </a:solidFill>
              </a:rPr>
              <a:t>OPEN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215500" y="5590000"/>
            <a:ext cx="150000" cy="240000"/>
          </a:xfrm>
          <a:prstGeom prst="rightArrow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405500" y="5350000"/>
            <a:ext cx="2575500" cy="720000"/>
          </a:xfrm>
          <a:prstGeom prst="roundRect">
            <a:avLst/>
          </a:prstGeom>
          <a:solidFill>
            <a:srgbClr val="F5F8FB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1F4E79"/>
                </a:solidFill>
              </a:rPr>
              <a:t>INVESTIGATE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6021000" y="5590000"/>
            <a:ext cx="150000" cy="240000"/>
          </a:xfrm>
          <a:prstGeom prst="rightArrow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11000" y="5350000"/>
            <a:ext cx="2575500" cy="720000"/>
          </a:xfrm>
          <a:prstGeom prst="roundRect">
            <a:avLst/>
          </a:prstGeom>
          <a:solidFill>
            <a:srgbClr val="F5F8FB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1F4E79"/>
                </a:solidFill>
              </a:rPr>
              <a:t>RESOLVE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826500" y="5590000"/>
            <a:ext cx="150000" cy="240000"/>
          </a:xfrm>
          <a:prstGeom prst="rightArrow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016500" y="5350000"/>
            <a:ext cx="2575500" cy="720000"/>
          </a:xfrm>
          <a:prstGeom prst="roundRect">
            <a:avLst/>
          </a:prstGeom>
          <a:solidFill>
            <a:srgbClr val="F5F8FB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1F4E79"/>
                </a:solidFill>
              </a:rPr>
              <a:t>CLOSE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00000" y="1650000"/>
            <a:ext cx="3900000" cy="2400000"/>
          </a:xfrm>
          <a:prstGeom prst="roundRect">
            <a:avLst/>
          </a:prstGeom>
          <a:solidFill>
            <a:srgbClr val="E7EEF5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i="1">
                <a:solidFill>
                  <a:srgbClr val="5B6478"/>
                </a:solidFill>
              </a:rPr>
              <a:t>[Insert Incident Management Screenshot]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" name="TextBox 8">
            <a:extLst>
              <a:ext uri="{FF2B5EF4-FFF2-40B4-BE49-F238E27FC236}">
                <a16:creationId xmlns:a16="http://schemas.microsoft.com/office/drawing/2014/main" id="{73FCF8FB-A1FC-AFCE-D2FB-B88B87B16818}"/>
              </a:ext>
            </a:extLst>
          </p:cNvPr>
          <p:cNvSpPr txBox="1"/>
          <p:nvPr/>
        </p:nvSpPr>
        <p:spPr>
          <a:xfrm>
            <a:off x="4696639" y="456591"/>
            <a:ext cx="328476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 b="1"/>
              <a:t>Dashboard Overview:</a:t>
            </a:r>
            <a:endParaRPr lang="en-IN" sz="4000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5AAEC-B383-46AE-B680-503D41FE6A96}" type="slidenum">
              <a:rPr lang="en-IN" smtClean="0"/>
              <a:pPr/>
              <a:t>4</a:t>
            </a:fld>
            <a:endParaRPr lang="en-IN"/>
          </a:p>
        </p:txBody>
      </p:sp>
      <p:pic>
        <p:nvPicPr>
          <p:cNvPr id="11" name="image1.jpeg"/>
          <p:cNvPicPr/>
          <p:nvPr/>
        </p:nvPicPr>
        <p:blipFill>
          <a:blip r:embed="rId2" cstate="print"/>
          <a:srcRect l="1991" r="87176"/>
          <a:stretch>
            <a:fillRect/>
          </a:stretch>
        </p:blipFill>
        <p:spPr>
          <a:xfrm>
            <a:off x="404735" y="329783"/>
            <a:ext cx="764500" cy="103772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B0C626F-46AC-8CD2-5586-755E4C82D9E9}"/>
              </a:ext>
            </a:extLst>
          </p:cNvPr>
          <p:cNvSpPr txBox="1"/>
          <p:nvPr/>
        </p:nvSpPr>
        <p:spPr>
          <a:xfrm>
            <a:off x="1481077" y="1789907"/>
            <a:ext cx="9715889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sz="1300"/>
              <a:t>- Summary cards: Total Logs, Threats, Incidents, Critical Alerts, AI Anomalies.</a:t>
            </a:r>
          </a:p>
          <a:p>
            <a:pPr/>
            <a:r>
              <a:rPr sz="1300"/>
              <a:t>- Charts: Threat Timeline, Severity Distribution, Attack Types, Top Source IPs.</a:t>
            </a:r>
          </a:p>
          <a:p>
            <a:pPr/>
            <a:r>
              <a:rPr sz="1300"/>
              <a:t>- Recent Events table with engine, entity, severity, and explanation.</a:t>
            </a:r>
          </a:p>
          <a:p>
            <a:pPr/>
            <a:r>
              <a:rPr sz="1300"/>
              <a:t>- Auto-refresh via React Query for a near-live SOC view.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00000" y="1650000"/>
            <a:ext cx="3900000" cy="2400000"/>
          </a:xfrm>
          <a:prstGeom prst="roundRect">
            <a:avLst/>
          </a:prstGeom>
          <a:solidFill>
            <a:srgbClr val="E7EEF5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i="1">
                <a:solidFill>
                  <a:srgbClr val="5B6478"/>
                </a:solidFill>
              </a:rPr>
              <a:t>[Insert Dashboard Screenshot]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" name="TextBox 8">
            <a:extLst>
              <a:ext uri="{FF2B5EF4-FFF2-40B4-BE49-F238E27FC236}">
                <a16:creationId xmlns:a16="http://schemas.microsoft.com/office/drawing/2014/main" id="{73FCF8FB-A1FC-AFCE-D2FB-B88B87B16818}"/>
              </a:ext>
            </a:extLst>
          </p:cNvPr>
          <p:cNvSpPr txBox="1"/>
          <p:nvPr/>
        </p:nvSpPr>
        <p:spPr>
          <a:xfrm>
            <a:off x="4696639" y="456591"/>
            <a:ext cx="328476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 b="1"/>
              <a:t>Backend Architecture:</a:t>
            </a:r>
            <a:endParaRPr lang="en-IN" sz="4000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5AAEC-B383-46AE-B680-503D41FE6A96}" type="slidenum">
              <a:rPr lang="en-IN" smtClean="0"/>
              <a:pPr/>
              <a:t>4</a:t>
            </a:fld>
            <a:endParaRPr lang="en-IN"/>
          </a:p>
        </p:txBody>
      </p:sp>
      <p:pic>
        <p:nvPicPr>
          <p:cNvPr id="11" name="image1.jpeg"/>
          <p:cNvPicPr/>
          <p:nvPr/>
        </p:nvPicPr>
        <p:blipFill>
          <a:blip r:embed="rId2" cstate="print"/>
          <a:srcRect l="1991" r="87176"/>
          <a:stretch>
            <a:fillRect/>
          </a:stretch>
        </p:blipFill>
        <p:spPr>
          <a:xfrm>
            <a:off x="404735" y="329783"/>
            <a:ext cx="764500" cy="103772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B0C626F-46AC-8CD2-5586-755E4C82D9E9}"/>
              </a:ext>
            </a:extLst>
          </p:cNvPr>
          <p:cNvSpPr txBox="1"/>
          <p:nvPr/>
        </p:nvSpPr>
        <p:spPr>
          <a:xfrm>
            <a:off x="1481077" y="1789907"/>
            <a:ext cx="9715889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sz="1300"/>
              <a:t>- FastAPI routers: auth, logs, detections, ml, incidents, analytics, rules.</a:t>
            </a:r>
          </a:p>
          <a:p>
            <a:pPr/>
            <a:r>
              <a:rPr sz="1300"/>
              <a:t>- Dependency Inversion: ingestion triggers detection via on_ingested callback.</a:t>
            </a:r>
          </a:p>
          <a:p>
            <a:pPr/>
            <a:r>
              <a:rPr sz="1300"/>
              <a:t>- Repository layer for Mongo and Elasticsearch.</a:t>
            </a:r>
          </a:p>
          <a:p>
            <a:pPr/>
            <a:r>
              <a:rPr sz="1300"/>
              <a:t>- Structured logging, fault isolation, JWT RBAC (admin / soc_analyst).</a:t>
            </a:r>
          </a:p>
          <a:p>
            <a:pPr/>
            <a:r>
              <a:rPr sz="1300"/>
              <a:t>- Health endpoints: /health and /health/ready.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" name="TextBox 8">
            <a:extLst>
              <a:ext uri="{FF2B5EF4-FFF2-40B4-BE49-F238E27FC236}">
                <a16:creationId xmlns:a16="http://schemas.microsoft.com/office/drawing/2014/main" id="{73FCF8FB-A1FC-AFCE-D2FB-B88B87B16818}"/>
              </a:ext>
            </a:extLst>
          </p:cNvPr>
          <p:cNvSpPr txBox="1"/>
          <p:nvPr/>
        </p:nvSpPr>
        <p:spPr>
          <a:xfrm>
            <a:off x="4696639" y="456591"/>
            <a:ext cx="328476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 b="1"/>
              <a:t>Database Design:</a:t>
            </a:r>
            <a:endParaRPr lang="en-IN" sz="4000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5AAEC-B383-46AE-B680-503D41FE6A96}" type="slidenum">
              <a:rPr lang="en-IN" smtClean="0"/>
              <a:pPr/>
              <a:t>4</a:t>
            </a:fld>
            <a:endParaRPr lang="en-IN"/>
          </a:p>
        </p:txBody>
      </p:sp>
      <p:pic>
        <p:nvPicPr>
          <p:cNvPr id="11" name="image1.jpeg"/>
          <p:cNvPicPr/>
          <p:nvPr/>
        </p:nvPicPr>
        <p:blipFill>
          <a:blip r:embed="rId2" cstate="print"/>
          <a:srcRect l="1991" r="87176"/>
          <a:stretch>
            <a:fillRect/>
          </a:stretch>
        </p:blipFill>
        <p:spPr>
          <a:xfrm>
            <a:off x="404735" y="329783"/>
            <a:ext cx="764500" cy="103772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B0C626F-46AC-8CD2-5586-755E4C82D9E9}"/>
              </a:ext>
            </a:extLst>
          </p:cNvPr>
          <p:cNvSpPr txBox="1"/>
          <p:nvPr/>
        </p:nvSpPr>
        <p:spPr>
          <a:xfrm>
            <a:off x="1481077" y="1789907"/>
            <a:ext cx="9715889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sz="1300"/>
              <a:t>- MongoDB: users, detections, alerts, incidents, ingestion_batches, detection_rules.</a:t>
            </a:r>
          </a:p>
          <a:p>
            <a:pPr/>
            <a:r>
              <a:rPr sz="1300"/>
              <a:t>- Elasticsearch indices: security-logs-* with mapped NormalizedLog fields.</a:t>
            </a:r>
          </a:p>
          <a:p>
            <a:pPr/>
            <a:r>
              <a:rPr sz="1300"/>
              <a:t>- Incidents store detection_ids, evidence_log_ids, notes, assigned_to.</a:t>
            </a:r>
          </a:p>
          <a:p>
            <a:pPr/>
            <a:r>
              <a:rPr sz="1300"/>
              <a:t>- Atomic counters collection for INC-#### sequence generation.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00000" y="1650000"/>
            <a:ext cx="3900000" cy="2400000"/>
          </a:xfrm>
          <a:prstGeom prst="roundRect">
            <a:avLst/>
          </a:prstGeom>
          <a:solidFill>
            <a:srgbClr val="E7EEF5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i="1">
                <a:solidFill>
                  <a:srgbClr val="5B6478"/>
                </a:solidFill>
              </a:rPr>
              <a:t>[Insert Analytics Screenshot]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" name="TextBox 8">
            <a:extLst>
              <a:ext uri="{FF2B5EF4-FFF2-40B4-BE49-F238E27FC236}">
                <a16:creationId xmlns:a16="http://schemas.microsoft.com/office/drawing/2014/main" id="{73FCF8FB-A1FC-AFCE-D2FB-B88B87B16818}"/>
              </a:ext>
            </a:extLst>
          </p:cNvPr>
          <p:cNvSpPr txBox="1"/>
          <p:nvPr/>
        </p:nvSpPr>
        <p:spPr>
          <a:xfrm>
            <a:off x="4696639" y="456591"/>
            <a:ext cx="328476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 b="1"/>
              <a:t>Current Progress:</a:t>
            </a:r>
            <a:endParaRPr lang="en-IN" sz="4000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5AAEC-B383-46AE-B680-503D41FE6A96}" type="slidenum">
              <a:rPr lang="en-IN" smtClean="0"/>
              <a:pPr/>
              <a:t>4</a:t>
            </a:fld>
            <a:endParaRPr lang="en-IN"/>
          </a:p>
        </p:txBody>
      </p:sp>
      <p:pic>
        <p:nvPicPr>
          <p:cNvPr id="11" name="image1.jpeg"/>
          <p:cNvPicPr/>
          <p:nvPr/>
        </p:nvPicPr>
        <p:blipFill>
          <a:blip r:embed="rId2" cstate="print"/>
          <a:srcRect l="1991" r="87176"/>
          <a:stretch>
            <a:fillRect/>
          </a:stretch>
        </p:blipFill>
        <p:spPr>
          <a:xfrm>
            <a:off x="404735" y="329783"/>
            <a:ext cx="764500" cy="103772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B0C626F-46AC-8CD2-5586-755E4C82D9E9}"/>
              </a:ext>
            </a:extLst>
          </p:cNvPr>
          <p:cNvSpPr txBox="1"/>
          <p:nvPr/>
        </p:nvSpPr>
        <p:spPr>
          <a:xfrm>
            <a:off x="1481077" y="1789907"/>
            <a:ext cx="9715889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sz="1300"/>
              <a:t>- Completed: Backend architecture, JWT auth, MongoDB, Elasticsearch, Docker.</a:t>
            </a:r>
          </a:p>
          <a:p>
            <a:pPr/>
            <a:r>
              <a:rPr sz="1300"/>
              <a:t>- Completed: Log ingestion/parsers, rule-based detection, AI anomaly detection.</a:t>
            </a:r>
          </a:p>
          <a:p>
            <a:pPr/>
            <a:r>
              <a:rPr sz="1300"/>
              <a:t>- Completed: Incident management APIs + correlation, analytics APIs.</a:t>
            </a:r>
          </a:p>
          <a:p>
            <a:pPr/>
            <a:r>
              <a:rPr sz="1300"/>
              <a:t>- Completed: React SOC pages wired to live Axios APIs (no mocks).</a:t>
            </a:r>
          </a:p>
          <a:p>
            <a:pPr/>
            <a:r>
              <a:rPr sz="1300"/>
              <a:t>- Validated: 126 backend unit tests; end-to-end upload to detect to incident demo.</a:t>
            </a:r>
          </a:p>
          <a:p>
            <a:pPr/>
            <a:r>
              <a:rPr sz="1300"/>
              <a:t>- Dashboard: functional and demo-populated.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00000" y="1650000"/>
            <a:ext cx="3900000" cy="2400000"/>
          </a:xfrm>
          <a:prstGeom prst="roundRect">
            <a:avLst/>
          </a:prstGeom>
          <a:solidFill>
            <a:srgbClr val="E7EEF5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i="1">
                <a:solidFill>
                  <a:srgbClr val="5B6478"/>
                </a:solidFill>
              </a:rPr>
              <a:t>[Insert Login Page Screenshot]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" name="TextBox 8">
            <a:extLst>
              <a:ext uri="{FF2B5EF4-FFF2-40B4-BE49-F238E27FC236}">
                <a16:creationId xmlns:a16="http://schemas.microsoft.com/office/drawing/2014/main" id="{73FCF8FB-A1FC-AFCE-D2FB-B88B87B16818}"/>
              </a:ext>
            </a:extLst>
          </p:cNvPr>
          <p:cNvSpPr txBox="1"/>
          <p:nvPr/>
        </p:nvSpPr>
        <p:spPr>
          <a:xfrm>
            <a:off x="4696639" y="456591"/>
            <a:ext cx="328476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 b="1"/>
              <a:t>Future Scope:</a:t>
            </a:r>
            <a:endParaRPr lang="en-IN" sz="4000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5AAEC-B383-46AE-B680-503D41FE6A96}" type="slidenum">
              <a:rPr lang="en-IN" smtClean="0"/>
              <a:pPr/>
              <a:t>4</a:t>
            </a:fld>
            <a:endParaRPr lang="en-IN"/>
          </a:p>
        </p:txBody>
      </p:sp>
      <p:pic>
        <p:nvPicPr>
          <p:cNvPr id="11" name="image1.jpeg"/>
          <p:cNvPicPr/>
          <p:nvPr/>
        </p:nvPicPr>
        <p:blipFill>
          <a:blip r:embed="rId2" cstate="print"/>
          <a:srcRect l="1991" r="87176"/>
          <a:stretch>
            <a:fillRect/>
          </a:stretch>
        </p:blipFill>
        <p:spPr>
          <a:xfrm>
            <a:off x="404735" y="329783"/>
            <a:ext cx="764500" cy="103772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B0C626F-46AC-8CD2-5586-755E4C82D9E9}"/>
              </a:ext>
            </a:extLst>
          </p:cNvPr>
          <p:cNvSpPr txBox="1"/>
          <p:nvPr/>
        </p:nvSpPr>
        <p:spPr>
          <a:xfrm>
            <a:off x="1481077" y="1789907"/>
            <a:ext cx="9715889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sz="1300"/>
              <a:t>- External alert dispatch (SMTP, Discord, Telegram webhooks).</a:t>
            </a:r>
          </a:p>
          <a:p>
            <a:pPr/>
            <a:r>
              <a:rPr sz="1300"/>
              <a:t>- GeoIP/ASN enrichment and known-bad IP feeds.</a:t>
            </a:r>
          </a:p>
          <a:p>
            <a:pPr/>
            <a:r>
              <a:rPr sz="1300"/>
              <a:t>- Real-time agent/shipper path beyond file upload.</a:t>
            </a:r>
          </a:p>
          <a:p>
            <a:pPr/>
            <a:r>
              <a:rPr sz="1300"/>
              <a:t>- Background ML retrain jobs and larger labeled datasets.</a:t>
            </a:r>
          </a:p>
          <a:p>
            <a:pPr/>
            <a:r>
              <a:rPr sz="1300"/>
              <a:t>- Deeper user administration and notification center in UI.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" name="TextBox 8">
            <a:extLst>
              <a:ext uri="{FF2B5EF4-FFF2-40B4-BE49-F238E27FC236}">
                <a16:creationId xmlns:a16="http://schemas.microsoft.com/office/drawing/2014/main" id="{73FCF8FB-A1FC-AFCE-D2FB-B88B87B16818}"/>
              </a:ext>
            </a:extLst>
          </p:cNvPr>
          <p:cNvSpPr txBox="1"/>
          <p:nvPr/>
        </p:nvSpPr>
        <p:spPr>
          <a:xfrm>
            <a:off x="4696639" y="456591"/>
            <a:ext cx="328476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 b="1"/>
              <a:t>Conclusion:</a:t>
            </a:r>
            <a:endParaRPr lang="en-IN" sz="4000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5AAEC-B383-46AE-B680-503D41FE6A96}" type="slidenum">
              <a:rPr lang="en-IN" smtClean="0"/>
              <a:pPr/>
              <a:t>4</a:t>
            </a:fld>
            <a:endParaRPr lang="en-IN"/>
          </a:p>
        </p:txBody>
      </p:sp>
      <p:pic>
        <p:nvPicPr>
          <p:cNvPr id="11" name="image1.jpeg"/>
          <p:cNvPicPr/>
          <p:nvPr/>
        </p:nvPicPr>
        <p:blipFill>
          <a:blip r:embed="rId2" cstate="print"/>
          <a:srcRect l="1991" r="87176"/>
          <a:stretch>
            <a:fillRect/>
          </a:stretch>
        </p:blipFill>
        <p:spPr>
          <a:xfrm>
            <a:off x="404735" y="329783"/>
            <a:ext cx="764500" cy="103772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B0C626F-46AC-8CD2-5586-755E4C82D9E9}"/>
              </a:ext>
            </a:extLst>
          </p:cNvPr>
          <p:cNvSpPr txBox="1"/>
          <p:nvPr/>
        </p:nvSpPr>
        <p:spPr>
          <a:xfrm>
            <a:off x="1481077" y="1789907"/>
            <a:ext cx="9715889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sz="1300"/>
              <a:t>- Delivered a complete lightweight SIEM-style academic platform.</a:t>
            </a:r>
          </a:p>
          <a:p>
            <a:pPr/>
            <a:r>
              <a:rPr sz="1300"/>
              <a:t>- Unified multi-source logs with rule + AI detection and SOC workflow.</a:t>
            </a:r>
          </a:p>
          <a:p>
            <a:pPr/>
            <a:r>
              <a:rPr sz="1300"/>
              <a:t>- Explainable detections support viva demonstration and mentoring reviews.</a:t>
            </a:r>
          </a:p>
          <a:p>
            <a:pPr/>
            <a:r>
              <a:rPr sz="1300"/>
              <a:t>- Dockerized stack enables reproducible local deployment and demos.</a:t>
            </a:r>
          </a:p>
          <a:p>
            <a:pPr/>
            <a:r>
              <a:rPr sz="1300"/>
              <a:t>- Foundation ready for enrichment, real-time shipping, and alert channels.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" name="TextBox 8">
            <a:extLst>
              <a:ext uri="{FF2B5EF4-FFF2-40B4-BE49-F238E27FC236}">
                <a16:creationId xmlns:a16="http://schemas.microsoft.com/office/drawing/2014/main" id="{73FCF8FB-A1FC-AFCE-D2FB-B88B87B16818}"/>
              </a:ext>
            </a:extLst>
          </p:cNvPr>
          <p:cNvSpPr txBox="1"/>
          <p:nvPr/>
        </p:nvSpPr>
        <p:spPr>
          <a:xfrm>
            <a:off x="4696639" y="456591"/>
            <a:ext cx="328476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 b="1"/>
              <a:t>Questions:</a:t>
            </a:r>
            <a:endParaRPr lang="en-IN" sz="4000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5AAEC-B383-46AE-B680-503D41FE6A96}" type="slidenum">
              <a:rPr lang="en-IN" smtClean="0"/>
              <a:pPr/>
              <a:t>4</a:t>
            </a:fld>
            <a:endParaRPr lang="en-IN"/>
          </a:p>
        </p:txBody>
      </p:sp>
      <p:pic>
        <p:nvPicPr>
          <p:cNvPr id="11" name="image1.jpeg"/>
          <p:cNvPicPr/>
          <p:nvPr/>
        </p:nvPicPr>
        <p:blipFill>
          <a:blip r:embed="rId2" cstate="print"/>
          <a:srcRect l="1991" r="87176"/>
          <a:stretch>
            <a:fillRect/>
          </a:stretch>
        </p:blipFill>
        <p:spPr>
          <a:xfrm>
            <a:off x="404735" y="329783"/>
            <a:ext cx="764500" cy="103772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B0C626F-46AC-8CD2-5586-755E4C82D9E9}"/>
              </a:ext>
            </a:extLst>
          </p:cNvPr>
          <p:cNvSpPr txBox="1"/>
          <p:nvPr/>
        </p:nvSpPr>
        <p:spPr>
          <a:xfrm>
            <a:off x="1481077" y="1789907"/>
            <a:ext cx="9715889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sz="1300"/>
              <a:t>- Thank you for your attention.</a:t>
            </a:r>
          </a:p>
          <a:p>
            <a:pPr/>
            <a:r>
              <a:rPr sz="1300"/>
              <a:t>- Open for questions from mentor and review committee.</a:t>
            </a:r>
          </a:p>
          <a:p>
            <a:pPr/>
            <a:r>
              <a:rPr sz="1300"/>
              <a:t>- Demo available at: http://localhost:5173 (Docker Compose stack).</a:t>
            </a:r>
          </a:p>
          <a:p>
            <a:pPr/>
            <a:r>
              <a:rPr sz="1300"/>
              <a:t>- API docs: http://localhost:8000/docs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2316</TotalTime>
  <Words>1142</Words>
  <Application>Microsoft Office PowerPoint</Application>
  <PresentationFormat>Widescreen</PresentationFormat>
  <Paragraphs>174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Calibri</vt:lpstr>
      <vt:lpstr>Calibri Light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anshitamaheshwari.am@gmail.com</dc:creator>
  <cp:lastModifiedBy>Rahul Swami</cp:lastModifiedBy>
  <cp:revision>59</cp:revision>
  <dcterms:created xsi:type="dcterms:W3CDTF">2022-09-06T11:53:00Z</dcterms:created>
  <dcterms:modified xsi:type="dcterms:W3CDTF">2025-10-03T05:39:21Z</dcterms:modified>
</cp:coreProperties>
</file>