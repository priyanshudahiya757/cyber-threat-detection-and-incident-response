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88" r:id="rId4"/>
    <p:sldId id="272" r:id="rId5"/>
    <p:sldId id="275" r:id="rId6"/>
    <p:sldId id="274" r:id="rId7"/>
    <p:sldId id="264" r:id="rId8"/>
    <p:sldId id="286" r:id="rId9"/>
    <p:sldId id="273" r:id="rId10"/>
    <p:sldId id="287" r:id="rId11"/>
    <p:sldId id="279" r:id="rId12"/>
    <p:sldId id="282" r:id="rId13"/>
    <p:sldId id="277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E333670-B0C3-482E-AD7D-2DB113722FA5}">
          <p14:sldIdLst>
            <p14:sldId id="256"/>
            <p14:sldId id="259"/>
            <p14:sldId id="288"/>
            <p14:sldId id="272"/>
            <p14:sldId id="275"/>
            <p14:sldId id="274"/>
            <p14:sldId id="264"/>
            <p14:sldId id="286"/>
            <p14:sldId id="273"/>
            <p14:sldId id="287"/>
            <p14:sldId id="279"/>
            <p14:sldId id="282"/>
            <p14:sldId id="277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shita sharma" initials="hs" lastIdx="1" clrIdx="0">
    <p:extLst>
      <p:ext uri="{19B8F6BF-5375-455C-9EA6-DF929625EA0E}">
        <p15:presenceInfo xmlns:p15="http://schemas.microsoft.com/office/powerpoint/2012/main" userId="796b57deed017f8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6102" autoAdjust="0"/>
    <p:restoredTop sz="95256" autoAdjust="0"/>
  </p:normalViewPr>
  <p:slideViewPr>
    <p:cSldViewPr snapToGrid="0">
      <p:cViewPr varScale="1">
        <p:scale>
          <a:sx n="74" d="100"/>
          <a:sy n="74" d="100"/>
        </p:scale>
        <p:origin x="72" y="2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7199F-014E-4855-A33E-7A77826F2C2F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F42089-92B5-486D-9EDB-A943EC10E5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FD93-F6E6-4C8A-84EC-1431F04DB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9DB71-2E47-9264-E958-572387933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B1B91-5436-B312-6E4B-FA6B30069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B779A-E5DC-95C2-DB77-61CAEFB99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2548A-7BB4-18F8-780C-5D1DF446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00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0E16E-83BE-2425-4366-492AA0A6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83B71-186B-C993-6111-3E85E7A87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2901B-9897-3CCB-DA6B-634DEC6D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15B0B-CC55-A1D0-7B2B-3641CE03D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A0BA2-96C9-AF49-4D44-546CC881B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799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5634D-8021-BEE3-C461-50E47271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34A60-D5CB-3EC9-39D9-4881666EC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5C1E8-6037-84E8-EEE7-90BBCCD98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95ED8-AFCA-9F57-5CA8-4A27317C5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9BD69-E064-469D-A1EE-8061DDC2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831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A294-14D1-D8D8-17F5-3F0C9FA4B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F3A1D-0A33-CF47-FF82-D2CB1D763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C6F7A-E7B4-E9BB-B72F-DC7247D74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26340B-8E73-6904-A270-A5A8C3FA8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86EE7-D170-5B2A-E98A-59913959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E5CDA-0D72-E94E-E3AC-EC316A942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637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E3374-304C-38ED-89C4-205C2B1D2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C5B55-275E-2F15-6C69-E0FE91ACC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AC18E-4B18-7CDA-B931-71097D12A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461081-6079-9B74-AB39-1BE9CF6BF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8610A3-56A3-3D0E-5D7C-8375CB497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82CDB-CD07-3AF1-3C6A-60C2C9DC3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B2E41-45A6-AC95-397E-5A8296747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E5C56A-DBC0-83A2-68D4-0ADF3FCD6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484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E645C-84E4-86FB-2EE4-5CF920F63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1DC1D-EEAD-1D95-ACC7-88CEB271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7FAC96-6337-1C37-5053-AEE65D133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9D8E3-CB3F-8F63-C011-1A69894A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845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1613A7-61DA-8D48-12DB-17380EDEC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872F96-7EB9-0DA9-274A-75EEF73AD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33576-3677-A7F0-A972-A3DEE6C9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477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F9BC-7E33-8926-FFB9-5CFCAC8F2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2FB0A-C715-9E77-FDCC-67FCF540E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374E0-DD00-0FDE-8366-03B1D116C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8D4FF-9505-4045-6072-8ADBB4C34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BAE33-41E5-3E08-BEF7-ED2CBA0E9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A7C7A-181A-E463-B048-AA7DBD54F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87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CECE4-EBEF-4697-B86D-28EE92994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295694-8D89-0514-DC0E-BB74B7C0FB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69DBD-34AF-FD82-1D54-8CB85060B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3771A-72B6-1148-484B-C7732CA90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B38A6-6B4A-4379-8E26-463F5AA7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04AB7-DA32-AAAF-BB25-45160EFA5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458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85ADE-4856-FB64-1FD6-C8BDB0A7B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89F3A6-BCE7-B9EB-9C08-55EF7B157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88032-D308-7972-83E2-50DF60029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51991-177E-0541-7664-D75EC183F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6E495-3F9C-2078-E38D-5DEE1568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817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8AACA-93EA-5DE2-E7BF-47FDD3610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DE0EEC-8C65-85CE-EA67-2D521FB04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8C0D6-ED29-7973-6BB1-0C288FCD7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7992A-3F89-9245-9C76-065CF5658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4C991-A6B7-C45A-D65D-0E6A8B8B1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289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99111E-A875-8E35-F26E-EBB3DCC6F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65EB4-29F8-5404-82A4-A7D53D285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22FEC-724E-B80C-7F41-3C04D3CDD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03-12-2024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5274A-A7F0-5715-E85B-FD4FB1DC00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0559A-A289-B8D6-D885-5B80B4408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784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featured-insights/future-of-work/the-future-of-work-in-the-age-of-ai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itsloan.mit.edu/ideas-made-to-matter/second-machine-age" TargetMode="External"/><Relationship Id="rId5" Type="http://schemas.openxmlformats.org/officeDocument/2006/relationships/hyperlink" Target="https://www.oecd.org/ai" TargetMode="External"/><Relationship Id="rId4" Type="http://schemas.openxmlformats.org/officeDocument/2006/relationships/hyperlink" Target="https://www.ilo.org/global/publications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4C11A9-A9A6-F985-26AE-1F0A9EF756CE}"/>
              </a:ext>
            </a:extLst>
          </p:cNvPr>
          <p:cNvSpPr txBox="1"/>
          <p:nvPr/>
        </p:nvSpPr>
        <p:spPr>
          <a:xfrm>
            <a:off x="7356764" y="4878430"/>
            <a:ext cx="40386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RAHUL SWAMI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 NO.: 22EARCS137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166D2A-0FE4-5260-80BC-17B1A8341E55}"/>
              </a:ext>
            </a:extLst>
          </p:cNvPr>
          <p:cNvSpPr txBox="1"/>
          <p:nvPr/>
        </p:nvSpPr>
        <p:spPr>
          <a:xfrm>
            <a:off x="1119674" y="1884218"/>
            <a:ext cx="99315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SEMINAR PRESENTATION</a:t>
            </a:r>
          </a:p>
          <a:p>
            <a:pPr algn="ctr"/>
            <a:r>
              <a:rPr lang="en-I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3600" dirty="0"/>
              <a:t>Impact of Artificial Intelligence on Workforce Automation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45A59-0D34-8114-274E-4552F4C50CCF}"/>
              </a:ext>
            </a:extLst>
          </p:cNvPr>
          <p:cNvSpPr txBox="1"/>
          <p:nvPr/>
        </p:nvSpPr>
        <p:spPr>
          <a:xfrm>
            <a:off x="439104" y="4878430"/>
            <a:ext cx="33401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</a:t>
            </a:r>
            <a:r>
              <a:rPr lang="en-IN" b="1" dirty="0"/>
              <a:t>:</a:t>
            </a:r>
          </a:p>
          <a:p>
            <a:r>
              <a:rPr lang="en-IN" b="1" dirty="0"/>
              <a:t>NAME: DR. VISHAL SHIRVASTAVA</a:t>
            </a:r>
          </a:p>
          <a:p>
            <a:r>
              <a:rPr lang="en-IN" b="1" dirty="0"/>
              <a:t>DESIGNATION: PROFESSOR</a:t>
            </a:r>
          </a:p>
        </p:txBody>
      </p:sp>
      <p:pic>
        <p:nvPicPr>
          <p:cNvPr id="8" name="image1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236" y="193964"/>
            <a:ext cx="11623964" cy="159327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975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709B82-8A26-D2BA-95A2-3AD0CC66D436}"/>
              </a:ext>
            </a:extLst>
          </p:cNvPr>
          <p:cNvSpPr txBox="1"/>
          <p:nvPr/>
        </p:nvSpPr>
        <p:spPr>
          <a:xfrm>
            <a:off x="1438228" y="555510"/>
            <a:ext cx="99613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Problem Statement &amp; Solution: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69EAE-7B61-E1BD-058E-7E0F0B63FBB1}"/>
              </a:ext>
            </a:extLst>
          </p:cNvPr>
          <p:cNvSpPr txBox="1"/>
          <p:nvPr/>
        </p:nvSpPr>
        <p:spPr>
          <a:xfrm>
            <a:off x="3473161" y="2136338"/>
            <a:ext cx="60942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Problem:</a:t>
            </a:r>
          </a:p>
          <a:p>
            <a:r>
              <a:rPr lang="en-IN" sz="2400" dirty="0"/>
              <a:t>- Risk of job loss due to automation.</a:t>
            </a:r>
          </a:p>
          <a:p>
            <a:r>
              <a:rPr lang="en-IN" sz="2400" dirty="0"/>
              <a:t>- Skills mismatch and reskilling challenges.</a:t>
            </a:r>
          </a:p>
          <a:p>
            <a:r>
              <a:rPr lang="en-IN" sz="2400" dirty="0"/>
              <a:t>- Ethical issues (bias, accountability).</a:t>
            </a:r>
          </a:p>
          <a:p>
            <a:endParaRPr lang="en-IN" sz="2400" dirty="0"/>
          </a:p>
          <a:p>
            <a:r>
              <a:rPr lang="en-IN" sz="2400" b="1" dirty="0"/>
              <a:t>Solution:</a:t>
            </a:r>
          </a:p>
          <a:p>
            <a:r>
              <a:rPr lang="en-IN" sz="2400" dirty="0"/>
              <a:t>- Human–AI collaboration models.</a:t>
            </a:r>
          </a:p>
          <a:p>
            <a:r>
              <a:rPr lang="en-IN" sz="2400" dirty="0"/>
              <a:t>- Upskilling &amp; reskilling programs.</a:t>
            </a:r>
          </a:p>
          <a:p>
            <a:r>
              <a:rPr lang="en-IN" sz="2400" dirty="0"/>
              <a:t>- Ethical AI frameworks &amp; inclusive policies</a:t>
            </a:r>
          </a:p>
        </p:txBody>
      </p:sp>
    </p:spTree>
    <p:extLst>
      <p:ext uri="{BB962C8B-B14F-4D97-AF65-F5344CB8AC3E}">
        <p14:creationId xmlns:p14="http://schemas.microsoft.com/office/powerpoint/2010/main" val="2941555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77F43A-0C8C-A907-7F96-9A2226DF83CC}"/>
              </a:ext>
            </a:extLst>
          </p:cNvPr>
          <p:cNvSpPr txBox="1"/>
          <p:nvPr/>
        </p:nvSpPr>
        <p:spPr>
          <a:xfrm>
            <a:off x="1171853" y="4092607"/>
            <a:ext cx="1127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TITLE</a:t>
            </a:r>
            <a:r>
              <a:rPr lang="en-IN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09B82-8A26-D2BA-95A2-3AD0CC66D436}"/>
              </a:ext>
            </a:extLst>
          </p:cNvPr>
          <p:cNvSpPr txBox="1"/>
          <p:nvPr/>
        </p:nvSpPr>
        <p:spPr>
          <a:xfrm>
            <a:off x="2606604" y="434504"/>
            <a:ext cx="6680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Contents:	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7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3ACEECA-7509-DB33-CA1B-422CC1978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9665" y="1582956"/>
            <a:ext cx="703673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Technology Used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About the Topic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Key Features of AI in Workforce Automation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Scalability and Micro Services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 Real-Time Applications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Why Use AI in Workforce Automation?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Authentication of technology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Performance optimization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References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555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AI as a Key Driver</a:t>
            </a:r>
            <a:r>
              <a:rPr lang="en-US" sz="2800" dirty="0"/>
              <a:t> of the Fourth Industrial Revolution.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Moves beyond physical automation → enables </a:t>
            </a:r>
            <a:r>
              <a:rPr lang="en-US" sz="2800" b="1" dirty="0"/>
              <a:t>cognitive automation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Automates </a:t>
            </a:r>
            <a:r>
              <a:rPr lang="en-US" sz="2800" b="1" dirty="0"/>
              <a:t>repetitive, data-driven, and decision-making tasks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Enhances </a:t>
            </a:r>
            <a:r>
              <a:rPr lang="en-US" sz="2800" b="1" dirty="0"/>
              <a:t>efficiency, accuracy, and productivity</a:t>
            </a:r>
            <a:r>
              <a:rPr lang="en-US" sz="2800" dirty="0"/>
              <a:t> across industries.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Frees human workers to focus on </a:t>
            </a:r>
            <a:r>
              <a:rPr lang="en-US" sz="2800" b="1" dirty="0"/>
              <a:t>creativity, problem-solving, and innovation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Plays a crucial role in </a:t>
            </a:r>
            <a:r>
              <a:rPr lang="en-US" sz="2800" b="1" dirty="0"/>
              <a:t>reshaping jobs, reskilling needs, and organizational structures</a:t>
            </a:r>
            <a:r>
              <a:rPr lang="en-US" sz="2800" dirty="0"/>
              <a:t>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36843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CDB75B-A5EC-6A87-109E-3ADD9562C94F}"/>
              </a:ext>
            </a:extLst>
          </p:cNvPr>
          <p:cNvSpPr txBox="1"/>
          <p:nvPr/>
        </p:nvSpPr>
        <p:spPr>
          <a:xfrm>
            <a:off x="3149647" y="571127"/>
            <a:ext cx="61003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Technology used: </a:t>
            </a:r>
            <a:endParaRPr lang="en-IN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0A013-42E0-32E2-233A-F6850720DC9D}"/>
              </a:ext>
            </a:extLst>
          </p:cNvPr>
          <p:cNvSpPr txBox="1"/>
          <p:nvPr/>
        </p:nvSpPr>
        <p:spPr>
          <a:xfrm>
            <a:off x="2562225" y="2724150"/>
            <a:ext cx="3533775" cy="1104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7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E9D564-4F12-F399-36F2-DA4C9387E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0004" y="1843893"/>
            <a:ext cx="917199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Machine Learning (ML) </a:t>
            </a:r>
            <a:r>
              <a:rPr lang="en-IN" sz="2800" dirty="0"/>
              <a:t>– predictive models &amp; automation.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Natural Language Processing (NLP) </a:t>
            </a:r>
            <a:r>
              <a:rPr lang="en-IN" sz="2800" dirty="0"/>
              <a:t>– chatbots, assistants.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Robotics &amp; Automation Tools </a:t>
            </a:r>
            <a:r>
              <a:rPr lang="en-IN" sz="2800" dirty="0"/>
              <a:t>– smart factories, logistics.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Computer Vision </a:t>
            </a:r>
            <a:r>
              <a:rPr lang="en-IN" sz="2800" dirty="0"/>
              <a:t>– facial recognition, quality control.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Cloud &amp; Edge Computing</a:t>
            </a:r>
            <a:r>
              <a:rPr lang="en-IN" sz="2800" dirty="0"/>
              <a:t> – scalable AI solutions.</a:t>
            </a:r>
          </a:p>
        </p:txBody>
      </p:sp>
    </p:spTree>
    <p:extLst>
      <p:ext uri="{BB962C8B-B14F-4D97-AF65-F5344CB8AC3E}">
        <p14:creationId xmlns:p14="http://schemas.microsoft.com/office/powerpoint/2010/main" val="319032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E0E1DB-7878-1253-9BB4-E697E04FEE61}"/>
              </a:ext>
            </a:extLst>
          </p:cNvPr>
          <p:cNvSpPr txBox="1"/>
          <p:nvPr/>
        </p:nvSpPr>
        <p:spPr>
          <a:xfrm>
            <a:off x="3499107" y="558561"/>
            <a:ext cx="54441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Topic:-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E33C7F-53E5-BB42-46FC-4D010DA0B32E}"/>
              </a:ext>
            </a:extLst>
          </p:cNvPr>
          <p:cNvSpPr/>
          <p:nvPr/>
        </p:nvSpPr>
        <p:spPr>
          <a:xfrm>
            <a:off x="10677525" y="428625"/>
            <a:ext cx="1420217" cy="8501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7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04B68C8-CF38-4A3D-8248-58C825BC527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18309" y="1870378"/>
            <a:ext cx="1149580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Artificial Intelligence (AI)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transforming how organizations operate and manage their workforce.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 of repetitive and routine tasks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reducing human workload.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Plays a major role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support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using data-driven insights to guide businesses.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Industry Impact</a:t>
            </a:r>
            <a:r>
              <a:rPr lang="en-US" altLang="en-US" dirty="0">
                <a:latin typeface="Arial" panose="020B0604020202020204" pitchFamily="34" charset="0"/>
              </a:rPr>
              <a:t>- </a:t>
            </a:r>
            <a:r>
              <a:rPr lang="en-US" altLang="en-US" i="1" dirty="0">
                <a:latin typeface="Arial" panose="020B0604020202020204" pitchFamily="34" charset="0"/>
              </a:rPr>
              <a:t>m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anufacturing, </a:t>
            </a:r>
            <a:r>
              <a:rPr lang="en-US" altLang="en-US" i="1" dirty="0">
                <a:latin typeface="Arial" panose="020B0604020202020204" pitchFamily="34" charset="0"/>
              </a:rPr>
              <a:t>h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ealthcare, </a:t>
            </a:r>
            <a:r>
              <a:rPr lang="en-US" altLang="en-US" i="1" dirty="0">
                <a:latin typeface="Arial" panose="020B0604020202020204" pitchFamily="34" charset="0"/>
              </a:rPr>
              <a:t>f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inance and </a:t>
            </a:r>
            <a:r>
              <a:rPr lang="en-US" altLang="en-US" i="1" dirty="0">
                <a:latin typeface="Arial" panose="020B0604020202020204" pitchFamily="34" charset="0"/>
              </a:rPr>
              <a:t>r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etail &amp; logistics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Human–AI Collaboration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where humans handle creativity, empathy, and complex judgment, while AI manages speed, scale, and precision.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Seen as both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 (job displacement)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opportunity (new job creation in AI-related fields)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3913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CDC4153-C236-2C90-4C8A-47F11672431C}"/>
              </a:ext>
            </a:extLst>
          </p:cNvPr>
          <p:cNvSpPr txBox="1"/>
          <p:nvPr/>
        </p:nvSpPr>
        <p:spPr>
          <a:xfrm>
            <a:off x="2411759" y="411617"/>
            <a:ext cx="77196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Technology: 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AE8BE-4641-5AEE-C02B-1589216E33CE}"/>
              </a:ext>
            </a:extLst>
          </p:cNvPr>
          <p:cNvSpPr txBox="1"/>
          <p:nvPr/>
        </p:nvSpPr>
        <p:spPr>
          <a:xfrm>
            <a:off x="7734301" y="152400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9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D76226-E176-55C3-047C-BB0FB6D84FB8}"/>
              </a:ext>
            </a:extLst>
          </p:cNvPr>
          <p:cNvSpPr txBox="1"/>
          <p:nvPr/>
        </p:nvSpPr>
        <p:spPr>
          <a:xfrm>
            <a:off x="1824913" y="1708666"/>
            <a:ext cx="815728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Increases efficiency &amp; productivity.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Reduces costs &amp; human error.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Provides data-driven insights.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Ensures workplace safety (hazardous tasks).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Creates new AI-driven job opportunities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5733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CDC4153-C236-2C90-4C8A-47F11672431C}"/>
              </a:ext>
            </a:extLst>
          </p:cNvPr>
          <p:cNvSpPr txBox="1"/>
          <p:nvPr/>
        </p:nvSpPr>
        <p:spPr>
          <a:xfrm>
            <a:off x="2248583" y="507927"/>
            <a:ext cx="77196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Micro Services: 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9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7F7CAFFB-017B-F25A-72FD-14D75827C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0756" y="1641411"/>
            <a:ext cx="9508885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Microservices Architecture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AI systems broken into modular services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(training, inference, monitoring) for flexibility.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Scalable AI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Cloud-based AI scales with workload, handling millions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workforce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Independent Services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Each microservice (e.g., NLP, CV, RPA) operates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independently, enabling faster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Elastic Cloud Resources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AI workloads scale up/down automatically depending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workforce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Cross-Platform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APIs enable AI services to integrate with HR, ERP,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CRM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Enterprise-Wide Scalability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Supports large organizations across multiple departments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geographies.</a:t>
            </a:r>
          </a:p>
        </p:txBody>
      </p:sp>
    </p:spTree>
    <p:extLst>
      <p:ext uri="{BB962C8B-B14F-4D97-AF65-F5344CB8AC3E}">
        <p14:creationId xmlns:p14="http://schemas.microsoft.com/office/powerpoint/2010/main" val="4005733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4A852F-A735-EA88-32ED-9B99B625987A}"/>
              </a:ext>
            </a:extLst>
          </p:cNvPr>
          <p:cNvSpPr txBox="1"/>
          <p:nvPr/>
        </p:nvSpPr>
        <p:spPr>
          <a:xfrm>
            <a:off x="2565191" y="496037"/>
            <a:ext cx="74153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Web Applications: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9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A3406E-F8CA-0870-D2F3-A794E1EE083A}"/>
              </a:ext>
            </a:extLst>
          </p:cNvPr>
          <p:cNvSpPr txBox="1"/>
          <p:nvPr/>
        </p:nvSpPr>
        <p:spPr>
          <a:xfrm>
            <a:off x="2098965" y="1589809"/>
            <a:ext cx="792172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b="1" dirty="0"/>
              <a:t>Healthcare</a:t>
            </a:r>
            <a:r>
              <a:rPr lang="en-IN" sz="2800" dirty="0"/>
              <a:t>: AI diagnostics, predictive analytics.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b="1" dirty="0"/>
              <a:t>Finance: </a:t>
            </a:r>
            <a:r>
              <a:rPr lang="en-IN" sz="2800" dirty="0"/>
              <a:t>Fraud detection, automated trading.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b="1" dirty="0"/>
              <a:t>Retail: </a:t>
            </a:r>
            <a:r>
              <a:rPr lang="en-IN" sz="2800" dirty="0"/>
              <a:t>Chatbots, inventory management.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b="1" dirty="0"/>
              <a:t>Manufacturing: </a:t>
            </a:r>
            <a:r>
              <a:rPr lang="en-IN" sz="2800" dirty="0"/>
              <a:t>Robotics, predictive maintenance.</a:t>
            </a:r>
            <a:br>
              <a:rPr lang="en-IN" sz="2800" dirty="0"/>
            </a:b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b="1" dirty="0"/>
              <a:t>Logistics: </a:t>
            </a:r>
            <a:r>
              <a:rPr lang="en-IN" sz="2800" dirty="0"/>
              <a:t>Route optimization, warehouse automation.</a:t>
            </a:r>
          </a:p>
          <a:p>
            <a:pPr lvl="4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60544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4A852F-A735-EA88-32ED-9B99B625987A}"/>
              </a:ext>
            </a:extLst>
          </p:cNvPr>
          <p:cNvSpPr txBox="1"/>
          <p:nvPr/>
        </p:nvSpPr>
        <p:spPr>
          <a:xfrm>
            <a:off x="3256194" y="276626"/>
            <a:ext cx="63354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this technology?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19F67A-50F0-D1EF-1E7B-AD4A441106A2}"/>
              </a:ext>
            </a:extLst>
          </p:cNvPr>
          <p:cNvSpPr txBox="1"/>
          <p:nvPr/>
        </p:nvSpPr>
        <p:spPr>
          <a:xfrm>
            <a:off x="1708985" y="1603777"/>
            <a:ext cx="98414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/>
            <a:endParaRPr lang="en-US" sz="2800" b="0" i="0" dirty="0">
              <a:solidFill>
                <a:srgbClr val="37415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10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CEE670-4E54-FF82-5B7B-24C9F827BB20}"/>
              </a:ext>
            </a:extLst>
          </p:cNvPr>
          <p:cNvSpPr txBox="1"/>
          <p:nvPr/>
        </p:nvSpPr>
        <p:spPr>
          <a:xfrm>
            <a:off x="2321769" y="1742266"/>
            <a:ext cx="717205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Efficiency &amp; Productivity</a:t>
            </a:r>
            <a:r>
              <a:rPr lang="en-US" sz="2000" dirty="0"/>
              <a:t> – AI completes tasks faster with fewer errors.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Cost Reduction</a:t>
            </a:r>
            <a:r>
              <a:rPr lang="en-US" sz="2000" dirty="0"/>
              <a:t> – Automates repetitive processes, reducing labor costs.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Data-Driven Decisions</a:t>
            </a:r>
            <a:r>
              <a:rPr lang="en-US" sz="2000" dirty="0"/>
              <a:t> – AI analyzes large datasets for better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Innovation &amp; Competitiveness</a:t>
            </a:r>
            <a:r>
              <a:rPr lang="en-US" sz="2000" dirty="0"/>
              <a:t> – Helps organizations stay ahead in Industry 4.0.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Workplace Safety</a:t>
            </a:r>
            <a:r>
              <a:rPr lang="en-US" sz="2000" dirty="0"/>
              <a:t> – Automates hazardous or risky tasks.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Scalability &amp; Flexibility</a:t>
            </a:r>
            <a:r>
              <a:rPr lang="en-US" sz="2000" dirty="0"/>
              <a:t> – Adapts easily to growing workforce and business needs.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Enhanced Customer Experience</a:t>
            </a:r>
            <a:r>
              <a:rPr lang="en-US" sz="2000" dirty="0"/>
              <a:t> – Through chatbots, virtual assistants, and personalization.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660544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4A852F-A735-EA88-32ED-9B99B625987A}"/>
              </a:ext>
            </a:extLst>
          </p:cNvPr>
          <p:cNvSpPr txBox="1"/>
          <p:nvPr/>
        </p:nvSpPr>
        <p:spPr>
          <a:xfrm>
            <a:off x="2634343" y="659625"/>
            <a:ext cx="69233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of Technology: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9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D01A626-42E1-9E32-2B32-DA528B137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163" y="2003974"/>
            <a:ext cx="1103926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Biometric Authentication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Facial recognition, fingerprint, and voice ID for workforce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AI-Powered Identity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Smart employee ID systems with anomaly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Multi-Factor Authentication (MFA)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Combining passwords, OTPs, biometrics, and tokens.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Role-Based Access Control (RBAC)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AI ensures employees only access relevant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Continuous Authentication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Real-time AI monitoring to detect unusual behavior and prevent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inside</a:t>
            </a:r>
            <a:r>
              <a:rPr lang="en-US" altLang="en-US" dirty="0">
                <a:latin typeface="Arial" panose="020B0604020202020204" pitchFamily="34" charset="0"/>
              </a:rPr>
              <a:t>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threats.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Behavioral Authentication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Monitoring typing patterns, mouse movements, and work activity.</a:t>
            </a:r>
          </a:p>
        </p:txBody>
      </p:sp>
    </p:spTree>
    <p:extLst>
      <p:ext uri="{BB962C8B-B14F-4D97-AF65-F5344CB8AC3E}">
        <p14:creationId xmlns:p14="http://schemas.microsoft.com/office/powerpoint/2010/main" val="1660544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2E29E75-9C9C-C331-14F5-068C82EFEB1E}"/>
              </a:ext>
            </a:extLst>
          </p:cNvPr>
          <p:cNvSpPr txBox="1"/>
          <p:nvPr/>
        </p:nvSpPr>
        <p:spPr>
          <a:xfrm>
            <a:off x="7750868" y="1730915"/>
            <a:ext cx="3774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4282812-CF19-01D0-2461-7BAE8214B678}"/>
              </a:ext>
            </a:extLst>
          </p:cNvPr>
          <p:cNvSpPr/>
          <p:nvPr/>
        </p:nvSpPr>
        <p:spPr>
          <a:xfrm>
            <a:off x="-77515" y="4972050"/>
            <a:ext cx="1663720" cy="62865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2764012" y="408712"/>
            <a:ext cx="79030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Performance Optimization:</a:t>
            </a:r>
            <a:endParaRPr lang="en-US" sz="36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3D70470C-AED3-7C3B-8D85-AA11FB1A9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05" y="1915581"/>
            <a:ext cx="1226143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Algorithms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 lightweight ML/DL models (e.g., pruning, quantization) to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reduce computation time.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Cloud + Edge Hybrid 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Process data closer to source (edge) for faster response;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heavy tasks handled in cloud.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Automation Workflows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Streamline processes using robotic process automation (RPA) + 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Scalable Infrastructure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Elastic cloud resources to manage workload spikes.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Data Optimization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 clean, structured datasets for faster training and better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Energy 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Green AI approaches to reduce computational cost and carbon footprint.</a:t>
            </a:r>
          </a:p>
        </p:txBody>
      </p:sp>
    </p:spTree>
    <p:extLst>
      <p:ext uri="{BB962C8B-B14F-4D97-AF65-F5344CB8AC3E}">
        <p14:creationId xmlns:p14="http://schemas.microsoft.com/office/powerpoint/2010/main" val="3327238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31A5F2-CF33-CA1E-983C-E0563A6CFA4C}"/>
              </a:ext>
            </a:extLst>
          </p:cNvPr>
          <p:cNvSpPr txBox="1"/>
          <p:nvPr/>
        </p:nvSpPr>
        <p:spPr>
          <a:xfrm>
            <a:off x="339635" y="3044279"/>
            <a:ext cx="33179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Conclusion:</a:t>
            </a:r>
            <a:endParaRPr lang="en-IN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13</a:t>
            </a:fld>
            <a:endParaRPr lang="en-IN"/>
          </a:p>
        </p:txBody>
      </p:sp>
      <p:pic>
        <p:nvPicPr>
          <p:cNvPr id="9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B120D69-00D8-E587-A6E1-C2B3DE382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1" y="1413063"/>
            <a:ext cx="827983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is revolutionizing the workforce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automating both physical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cognitive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Delivers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productivity, efficiency, and innovation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industries.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new opportunities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AI, data science, and emerging technologies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displacement, ethics, and reskilling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must be addressed.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future lies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Human–AI collaboration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where machines handle scale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speed, while humans focus on creativity and judgment.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the right balance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policy, ethics, and education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AI can shape 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workforce that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smarter, safer, and more sustainable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6608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E0E1DB-7878-1253-9BB4-E697E04FEE61}"/>
              </a:ext>
            </a:extLst>
          </p:cNvPr>
          <p:cNvSpPr txBox="1"/>
          <p:nvPr/>
        </p:nvSpPr>
        <p:spPr>
          <a:xfrm>
            <a:off x="2743978" y="333182"/>
            <a:ext cx="6274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14</a:t>
            </a:fld>
            <a:endParaRPr lang="en-IN"/>
          </a:p>
        </p:txBody>
      </p:sp>
      <p:pic>
        <p:nvPicPr>
          <p:cNvPr id="8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4C34CC3C-50A0-1ACC-44D2-7E5D34775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735" y="2109033"/>
            <a:ext cx="1164940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McKinsey Global Institute (2023).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Future of Work in the Age of AI.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https://www.mckinsey.com/featured-insights/future-of-work/the-future-of-work-in-the-age-of-ai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International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Labour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Organization (2024).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and the Future of Jobs.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https://www.ilo.org/global/publications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OECD (</a:t>
            </a:r>
            <a:r>
              <a:rPr lang="en-US" b="1" dirty="0" err="1"/>
              <a:t>Organisation</a:t>
            </a:r>
            <a:r>
              <a:rPr lang="en-US" b="1" dirty="0"/>
              <a:t> for Economic Co-operation and Development )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(2023).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in the Workplace: Policy Implications.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https://www.oecd.org/ai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Brynjolfsson, E. &amp; McAfee, A. (2022).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Second Machine Age: Work, Progress, and Prosperity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i="1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a Time of Brilliant Technologies.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https://mitsloan.mit.edu/ideas-made-to-matter/second-machine-age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World Economic Forum (2023).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of Jobs Report.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https://www.weforum.org/reports/future-of-jobs-report-2023</a:t>
            </a:r>
          </a:p>
        </p:txBody>
      </p:sp>
    </p:spTree>
    <p:extLst>
      <p:ext uri="{BB962C8B-B14F-4D97-AF65-F5344CB8AC3E}">
        <p14:creationId xmlns:p14="http://schemas.microsoft.com/office/powerpoint/2010/main" val="912397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E0E1DB-7878-1253-9BB4-E697E04FEE61}"/>
              </a:ext>
            </a:extLst>
          </p:cNvPr>
          <p:cNvSpPr txBox="1"/>
          <p:nvPr/>
        </p:nvSpPr>
        <p:spPr>
          <a:xfrm>
            <a:off x="2315477" y="2885861"/>
            <a:ext cx="78283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7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5274725" y="1255982"/>
            <a:ext cx="1253583" cy="170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68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2316</TotalTime>
  <Words>1142</Words>
  <Application>Microsoft Office PowerPoint</Application>
  <PresentationFormat>Widescreen</PresentationFormat>
  <Paragraphs>174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anshitamaheshwari.am@gmail.com</dc:creator>
  <cp:lastModifiedBy>Rahul Swami</cp:lastModifiedBy>
  <cp:revision>59</cp:revision>
  <dcterms:created xsi:type="dcterms:W3CDTF">2022-09-06T11:53:00Z</dcterms:created>
  <dcterms:modified xsi:type="dcterms:W3CDTF">2025-10-03T05:39:21Z</dcterms:modified>
</cp:coreProperties>
</file>